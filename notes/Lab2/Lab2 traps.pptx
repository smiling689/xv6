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0"/>
  </p:notesMasterIdLst>
  <p:sldIdLst>
    <p:sldId id="256" r:id="rId2"/>
    <p:sldId id="301" r:id="rId3"/>
    <p:sldId id="300" r:id="rId4"/>
    <p:sldId id="283" r:id="rId5"/>
    <p:sldId id="282" r:id="rId6"/>
    <p:sldId id="295" r:id="rId7"/>
    <p:sldId id="302" r:id="rId8"/>
    <p:sldId id="259" r:id="rId9"/>
    <p:sldId id="290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299" r:id="rId19"/>
    <p:sldId id="296" r:id="rId20"/>
    <p:sldId id="297" r:id="rId21"/>
    <p:sldId id="285" r:id="rId22"/>
    <p:sldId id="286" r:id="rId23"/>
    <p:sldId id="287" r:id="rId24"/>
    <p:sldId id="280" r:id="rId25"/>
    <p:sldId id="268" r:id="rId26"/>
    <p:sldId id="292" r:id="rId27"/>
    <p:sldId id="273" r:id="rId28"/>
    <p:sldId id="272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92" autoAdjust="0"/>
    <p:restoredTop sz="74207" autoAdjust="0"/>
  </p:normalViewPr>
  <p:slideViewPr>
    <p:cSldViewPr snapToGrid="0">
      <p:cViewPr varScale="1">
        <p:scale>
          <a:sx n="86" d="100"/>
          <a:sy n="86" d="100"/>
        </p:scale>
        <p:origin x="24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B6CAB-B6B0-6646-B1A2-B13B19345498}" type="datetimeFigureOut">
              <a:rPr kumimoji="1" lang="zh-CN" altLang="en-US" smtClean="0"/>
              <a:t>2026/3/27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DEDA1-A393-CC4D-9284-F22C847C84D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520A9-85F2-AB5A-346B-DB47CF539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2F4503-56E4-CB90-D8CC-317AE1B41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FC31B3-68A6-D9CF-3643-831F19969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当错误发生时，我们需要把错误点之前的函数栈打印出来（也就是把函数调用关系打印出来）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D3AF7F-1F34-B17A-F98F-AB90F5DA3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3367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当错误发生时，我们需要把错误点之前的函数栈打印出来（也就是把函数调用关系打印出来）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1868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7767C-492C-ECA5-6A62-81CC2879E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E72A90-A53E-6523-4B7D-0D2333149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B1A119-6DBB-B6A5-6653-6AE58DB4E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1882FC-61CB-4C5A-D2F4-74E8975C19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135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8F7B0-3C62-DDC7-B1FB-77C82AF1D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B1B341-E2C1-B8C0-1139-2329F80B8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D06C86-D78A-A2C4-6499-F3C9E1765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当错误发生时，我们需要把错误点之前的函数栈打印出来（也就是把函数调用关系打印出来）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E325EB-2A8B-56F5-4AF4-A21E82806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8332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介绍</a:t>
            </a:r>
            <a:r>
              <a:rPr kumimoji="1" lang="en-US" altLang="zh-CN" dirty="0"/>
              <a:t>trap</a:t>
            </a:r>
            <a:r>
              <a:rPr kumimoji="1" lang="zh-CN" altLang="en-US" dirty="0"/>
              <a:t>的定义</a:t>
            </a:r>
            <a:endParaRPr kumimoji="1" lang="en-US" altLang="zh-CN" dirty="0"/>
          </a:p>
          <a:p>
            <a:r>
              <a:rPr kumimoji="1" lang="en-US" altLang="zh-CN" dirty="0"/>
              <a:t>2.</a:t>
            </a:r>
            <a:r>
              <a:rPr kumimoji="1" lang="zh-CN" altLang="en-US" dirty="0"/>
              <a:t>本试验探究</a:t>
            </a:r>
            <a:r>
              <a:rPr kumimoji="1" lang="en-US" altLang="zh-CN" dirty="0"/>
              <a:t>xv6</a:t>
            </a:r>
            <a:r>
              <a:rPr kumimoji="1" lang="zh-CN" altLang="en-US" dirty="0"/>
              <a:t>如何通过</a:t>
            </a:r>
            <a:r>
              <a:rPr kumimoji="1" lang="en-US" altLang="zh-CN" dirty="0"/>
              <a:t>traps</a:t>
            </a:r>
            <a:r>
              <a:rPr kumimoji="1" lang="zh-CN" altLang="en-US" dirty="0"/>
              <a:t>实现</a:t>
            </a:r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7213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write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通过执行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ECALL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指令来执行系统调用。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ECALL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指令会切换到具有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supervisor mode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的内核中。在这个过程中，内核中执行的第一个指令是一个由汇编语言写的函数，叫做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uservec</a:t>
            </a:r>
            <a:r>
              <a:rPr lang="zh-CN" altLang="e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。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这个函数是内核代码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trampoline.s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文件的一部分。所以执行的第一个代码就是这个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uservec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汇编函数。</a:t>
            </a: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之后，在这个汇编函数中，代码执行跳转到了由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语言实现的函数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usertrap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中，这个函数在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trap.c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中。</a:t>
            </a: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现在代码运行在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中，所以代码更加容易理解。在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usertrap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这个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函数中，我们执行了一个叫做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syscall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的函数。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8286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2DCC5-783B-3FB9-17D3-30B33B7D7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29E627-BF45-9FC3-F095-CD1830E69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3ED3B9-90B0-496A-E649-DB421818E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write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通过执行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ECALL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指令来执行系统调用。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ECALL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指令会切换到具有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supervisor mode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的内核中。在这个过程中，内核中执行的第一个指令是一个由汇编语言写的函数，叫做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uservec</a:t>
            </a:r>
            <a:r>
              <a:rPr lang="zh-CN" altLang="e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。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这个函数是内核代码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trampoline.s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文件的一部分。所以执行的第一个代码就是这个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uservec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汇编函数。</a:t>
            </a: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之后，在这个汇编函数中，代码执行跳转到了由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语言实现的函数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usertrap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中，这个函数在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trap.c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中。</a:t>
            </a: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现在代码运行在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中，所以代码更加容易理解。在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usertrap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这个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函数中，我们执行了一个叫做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syscall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的函数。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2CDC4C-CCAB-D1A5-25FB-8F8BCAB63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32646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EC4B2-5606-245C-828F-D07FF86E5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51A9-AA72-027A-1E7C-6E963DD57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C76CD2-6AB1-E030-C059-FF21992FD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write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通过执行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ECALL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指令来执行系统调用。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ECALL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指令会切换到具有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supervisor mode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的内核中。在这个过程中，内核中执行的第一个指令是一个由汇编语言写的函数，叫做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uservec</a:t>
            </a:r>
            <a:r>
              <a:rPr lang="zh-CN" altLang="e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。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这个函数是内核代码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trampoline.s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文件的一部分。所以执行的第一个代码就是这个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uservec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汇编函数。</a:t>
            </a: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之后，在这个汇编函数中，代码执行跳转到了由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语言实现的函数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usertrap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中，这个函数在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trap.c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中。</a:t>
            </a: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现在代码运行在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中，所以代码更加容易理解。在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usertrap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这个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函数中，我们执行了一个叫做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syscall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的函数。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71C7FA-6089-CCA9-9D2C-2EA359A6A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4632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4EED8-5206-5E28-5BC4-AA999DAB2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01851D-FB26-EC6F-C531-EF82DCFC5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3008A6-8830-22DB-F163-AD8D04F6D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write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通过执行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ECALL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指令来执行系统调用。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ECALL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指令会切换到具有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supervisor mode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的内核中。在这个过程中，内核中执行的第一个指令是一个由汇编语言写的函数，叫做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uservec</a:t>
            </a:r>
            <a:r>
              <a:rPr lang="zh-CN" altLang="e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。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这个函数是内核代码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trampoline.s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文件的一部分。所以执行的第一个代码就是这个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uservec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汇编函数。</a:t>
            </a: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之后，在这个汇编函数中，代码执行跳转到了由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语言实现的函数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usertrap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中，这个函数在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trap.c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中。</a:t>
            </a: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现在代码运行在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中，所以代码更加容易理解。在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usertrap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这个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函数中，我们执行了一个叫做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syscall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的函数。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B5B2C6-3794-E268-30A4-27845D069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14954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491DB-5E3D-62FA-C97F-0EE9DB18B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345B39-1EAB-76CF-990B-A546EE5E4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A68E49-9411-1B8C-9666-BADBD5DE0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write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通过执行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ECALL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指令来执行系统调用。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ECALL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指令会切换到具有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supervisor mode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的内核中。在这个过程中，内核中执行的第一个指令是一个由汇编语言写的函数，叫做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uservec</a:t>
            </a:r>
            <a:r>
              <a:rPr lang="zh-CN" altLang="e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。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这个函数是内核代码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trampoline.s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文件的一部分。所以执行的第一个代码就是这个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uservec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汇编函数。</a:t>
            </a: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之后，在这个汇编函数中，代码执行跳转到了由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语言实现的函数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usertrap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中，这个函数在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trap.c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中。</a:t>
            </a: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现在代码运行在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中，所以代码更加容易理解。在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usertrap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这个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函数中，我们执行了一个叫做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syscall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的函数。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1EB6E5-8CA6-E808-D69B-1D0B0D84E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11698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1D6C0-A2FD-6DDE-1E37-A79237641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5A0F7B-C4D3-AC62-C937-E67FD8EAB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4DD6DA-57A8-691F-1312-EA717A6E7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write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通过执行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ECALL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指令来执行系统调用。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ECALL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指令会切换到具有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supervisor mode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的内核中。在这个过程中，内核中执行的第一个指令是一个由汇编语言写的函数，叫做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uservec</a:t>
            </a:r>
            <a:r>
              <a:rPr lang="zh-CN" altLang="e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。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这个函数是内核代码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trampoline.s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文件的一部分。所以执行的第一个代码就是这个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uservec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汇编函数。</a:t>
            </a: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之后，在这个汇编函数中，代码执行跳转到了由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语言实现的函数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usertrap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中，这个函数在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trap.c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中。</a:t>
            </a: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现在代码运行在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中，所以代码更加容易理解。在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usertrap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这个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函数中，我们执行了一个叫做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syscall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的函数。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4E911D-E46B-38AA-4A2E-C1159384D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414638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F462C-71A4-7494-DECB-ADDD181E1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96066C-8842-DC51-78F2-7C90DF81E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0B8D927-862F-E6B9-E035-C8B444374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write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通过执行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ECALL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指令来执行系统调用。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ECALL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指令会切换到具有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supervisor mode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的内核中。在这个过程中，内核中执行的第一个指令是一个由汇编语言写的函数，叫做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uservec</a:t>
            </a:r>
            <a:r>
              <a:rPr lang="zh-CN" altLang="e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。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这个函数是内核代码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trampoline.s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文件的一部分。所以执行的第一个代码就是这个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uservec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汇编函数。</a:t>
            </a: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之后，在这个汇编函数中，代码执行跳转到了由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语言实现的函数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usertrap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中，这个函数在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trap.c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中。</a:t>
            </a: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现在代码运行在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中，所以代码更加容易理解。在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usertrap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这个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函数中，我们执行了一个叫做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syscall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的函数。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A4E035-E39D-8D1D-9893-5050D0000B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0904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F0BD8-10C1-E534-1534-F59BC97A8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C5C6A4-4431-6843-E685-06B659723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7B7E2C-403D-6EC6-39CD-61DF8DEC9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write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通过执行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ECALL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指令来执行系统调用。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ECALL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指令会切换到具有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supervisor mode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的内核中。在这个过程中，内核中执行的第一个指令是一个由汇编语言写的函数，叫做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uservec</a:t>
            </a:r>
            <a:r>
              <a:rPr lang="zh-CN" altLang="e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。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这个函数是内核代码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trampoline.s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文件的一部分。所以执行的第一个代码就是这个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uservec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汇编函数。</a:t>
            </a: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之后，在这个汇编函数中，代码执行跳转到了由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语言实现的函数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usertrap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中，这个函数在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trap.c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中。</a:t>
            </a: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现在代码运行在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中，所以代码更加容易理解。在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usertrap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这个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函数中，我们执行了一个叫做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syscall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的函数。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E37E38-5FFC-4A49-8C5A-BC86527032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73551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BEC65-898E-0DE3-2A90-0798CB8D0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BF1483-F83D-4AAD-8051-F4E428A77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3C97F2-F06B-5139-3521-B5D3B9F1C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write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通过执行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ECALL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指令来执行系统调用。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ECALL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指令会切换到具有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supervisor mode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的内核中。在这个过程中，内核中执行的第一个指令是一个由汇编语言写的函数，叫做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uservec</a:t>
            </a:r>
            <a:r>
              <a:rPr lang="zh-CN" altLang="e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。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这个函数是内核代码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trampoline.s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文件的一部分。所以执行的第一个代码就是这个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uservec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汇编函数。</a:t>
            </a: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之后，在这个汇编函数中，代码执行跳转到了由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语言实现的函数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usertrap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中，这个函数在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trap.c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中。</a:t>
            </a: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E1D1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现在代码运行在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中，所以代码更加容易理解。在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usertrap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这个</a:t>
            </a:r>
            <a:r>
              <a:rPr lang="en" altLang="zh-CN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C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函数中，我们执行了一个叫做</a:t>
            </a:r>
            <a:r>
              <a:rPr lang="en" altLang="zh-CN" b="0" i="0" dirty="0" err="1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syscall</a:t>
            </a:r>
            <a:r>
              <a:rPr lang="zh-CN" altLang="en-US" b="0" i="0" dirty="0">
                <a:solidFill>
                  <a:srgbClr val="1E1D1F"/>
                </a:solidFill>
                <a:effectLst/>
                <a:latin typeface="Roboto" panose="02000000000000000000" pitchFamily="2" charset="0"/>
              </a:rPr>
              <a:t>的函数。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0846BF-3B37-295E-B5C9-32C132B9E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32542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最主要的操作：</a:t>
            </a:r>
            <a:endParaRPr kumimoji="1" lang="en-US" altLang="zh-CN" dirty="0"/>
          </a:p>
          <a:p>
            <a:r>
              <a:rPr kumimoji="1" lang="zh-CN" altLang="en-US" dirty="0"/>
              <a:t>第三条：从用户态切换到内核态。</a:t>
            </a:r>
            <a:endParaRPr kumimoji="1" lang="en-US" altLang="zh-CN" dirty="0"/>
          </a:p>
          <a:p>
            <a:r>
              <a:rPr kumimoji="1" lang="zh-CN" altLang="en-US" dirty="0"/>
              <a:t>第四条：</a:t>
            </a:r>
            <a:r>
              <a:rPr lang="zh-CN" altLang="en-US" dirty="0"/>
              <a:t>保存 </a:t>
            </a:r>
            <a:r>
              <a:rPr lang="en" altLang="zh-CN" dirty="0"/>
              <a:t>PC</a:t>
            </a:r>
            <a:r>
              <a:rPr lang="zh-CN" altLang="en" dirty="0"/>
              <a:t>到</a:t>
            </a:r>
            <a:r>
              <a:rPr lang="en-US" altLang="zh-CN" dirty="0"/>
              <a:t>spec</a:t>
            </a:r>
            <a:r>
              <a:rPr lang="zh-CN" altLang="en-US" dirty="0"/>
              <a:t>寄存器，作为未来我们返航的坐标</a:t>
            </a:r>
            <a:endParaRPr lang="en-US" altLang="zh-CN" dirty="0"/>
          </a:p>
          <a:p>
            <a:r>
              <a:rPr kumimoji="1" lang="zh-CN" altLang="en-US" dirty="0"/>
              <a:t>第五条：</a:t>
            </a:r>
            <a:r>
              <a:rPr lang="en" altLang="zh-CN" dirty="0"/>
              <a:t>pc = </a:t>
            </a:r>
            <a:r>
              <a:rPr lang="en" altLang="zh-CN" dirty="0" err="1"/>
              <a:t>stvec</a:t>
            </a:r>
            <a:r>
              <a:rPr lang="zh-CN" altLang="en-US" dirty="0"/>
              <a:t>，</a:t>
            </a:r>
            <a:r>
              <a:rPr lang="en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stvec</a:t>
            </a:r>
            <a:r>
              <a:rPr lang="en" altLang="zh-CN" dirty="0"/>
              <a:t> </a:t>
            </a:r>
            <a:r>
              <a:rPr lang="zh-CN" altLang="en" dirty="0"/>
              <a:t>存放</a:t>
            </a:r>
            <a:r>
              <a:rPr lang="zh-CN" altLang="en-US" dirty="0"/>
              <a:t>了</a:t>
            </a:r>
            <a:r>
              <a:rPr lang="en-US" altLang="zh-CN" dirty="0"/>
              <a:t>trap</a:t>
            </a:r>
            <a:r>
              <a:rPr lang="zh-CN" altLang="en-US" dirty="0"/>
              <a:t>的统一进入点，也就是</a:t>
            </a:r>
            <a:r>
              <a:rPr lang="en-US" altLang="zh-CN" dirty="0" err="1"/>
              <a:t>uservec</a:t>
            </a: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所以现在，</a:t>
            </a:r>
            <a:r>
              <a:rPr lang="en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ecall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帮我们做了一点点工作，但是实际上我们离执行内核中的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代码还差的很远。接下来：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我们需要保存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个用户寄存器的内容，这样当我们想要恢复用户代码执行时，我们才能恢复这些寄存器的内容。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因为现在我们还在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page table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我们需要切换到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kernel page table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我们需要创建或者找到一个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kernel stack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并将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Stack Pointer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寄存器的内容指向那个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kernel stack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这样才能给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代码提供栈。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我们还需要跳转到内核中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代码的某些合理的位置。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7106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Usertrap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讲解：</a:t>
            </a:r>
            <a:endParaRPr lang="e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usertrap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中先将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STVEC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指向了</a:t>
            </a:r>
            <a:r>
              <a:rPr lang="en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kernelvec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变量，这是内核空间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处理代码的位置，而不是用户空间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处理代码的位置。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接下来我们要保存用户程序计数器，它仍然保存在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寄存器中，但是可能发生这种情况：当程序还在内核中执行时，我们可能切换到另一个进程，并进入到那个程序的用户空间，然后那个进程可能再调用一个系统调用进而导致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寄存器的内容被覆盖。所以，我们需要保存当前进程的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寄存器到一个与该进程关联的内存中，这样这个数据才不会被覆盖。这里我们使用</a:t>
            </a:r>
            <a:r>
              <a:rPr lang="en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trapframe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来保存这个程序计数器。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70129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保存在</a:t>
            </a:r>
            <a:r>
              <a:rPr kumimoji="1" lang="en-US" altLang="zh-CN" dirty="0"/>
              <a:t>proc</a:t>
            </a:r>
            <a:r>
              <a:rPr kumimoji="1" lang="zh-CN" altLang="en-US" dirty="0"/>
              <a:t>，这样每个进程可以通过这个结构体访问得到这两个参数</a:t>
            </a:r>
            <a:endParaRPr kumimoji="1" lang="en-US" altLang="zh-CN" dirty="0"/>
          </a:p>
          <a:p>
            <a:r>
              <a:rPr kumimoji="1" lang="en-US" altLang="zh-CN" dirty="0"/>
              <a:t>3.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你也需要在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 proc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新增一个新字段。用于跟踪自上一次调用（或直到下一次调用）到进程的报警处理程序间经历了多少滴答；您可以在</a:t>
            </a:r>
            <a:r>
              <a:rPr lang="en" altLang="zh-CN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proc.c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</a:t>
            </a:r>
            <a:r>
              <a:rPr lang="en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allocproc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中初始化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字段。</a:t>
            </a:r>
          </a:p>
          <a:p>
            <a:r>
              <a:rPr kumimoji="1" lang="en-US" altLang="zh-CN" dirty="0"/>
              <a:t>4.</a:t>
            </a:r>
            <a:r>
              <a:rPr kumimoji="1" lang="zh-CN" altLang="en-US" dirty="0"/>
              <a:t>在这里可以进行判断过了几个时钟周期，如果时钟周期到</a:t>
            </a:r>
            <a:r>
              <a:rPr kumimoji="1" lang="en-US" altLang="zh-CN" dirty="0"/>
              <a:t>interval</a:t>
            </a:r>
            <a:r>
              <a:rPr kumimoji="1" lang="zh-CN" altLang="en-US" dirty="0"/>
              <a:t>了，就应该执行</a:t>
            </a:r>
            <a:r>
              <a:rPr kumimoji="1" lang="en-US" altLang="zh-CN" dirty="0"/>
              <a:t>handler</a:t>
            </a:r>
            <a:r>
              <a:rPr kumimoji="1" lang="zh-CN" altLang="en-US" dirty="0"/>
              <a:t>。</a:t>
            </a:r>
            <a:r>
              <a:rPr kumimoji="1" lang="en-US" altLang="zh-CN" dirty="0"/>
              <a:t>Handler</a:t>
            </a:r>
            <a:r>
              <a:rPr kumimoji="1" lang="zh-CN" altLang="en-US" dirty="0"/>
              <a:t>是用户态的函数，所以我们应该返回到用户态去执行。 这个需要大家去看一下返回到的地址存放在哪里，如何修改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调用的链条是在</a:t>
            </a:r>
            <a:r>
              <a:rPr kumimoji="1" lang="en-US" altLang="zh-CN" dirty="0" err="1"/>
              <a:t>funcA</a:t>
            </a:r>
            <a:r>
              <a:rPr kumimoji="1" lang="zh-CN" altLang="en-US" dirty="0"/>
              <a:t>执行，然后</a:t>
            </a:r>
            <a:r>
              <a:rPr kumimoji="1" lang="en-US" altLang="zh-CN" dirty="0"/>
              <a:t>kernel</a:t>
            </a:r>
            <a:r>
              <a:rPr kumimoji="1" lang="zh-CN" altLang="en-US" dirty="0"/>
              <a:t>判断是否该执行</a:t>
            </a:r>
            <a:r>
              <a:rPr kumimoji="1" lang="en-US" altLang="zh-CN" dirty="0"/>
              <a:t>handler</a:t>
            </a:r>
            <a:r>
              <a:rPr kumimoji="1" lang="zh-CN" altLang="en-US" dirty="0"/>
              <a:t>，如果该执行了就去执行</a:t>
            </a:r>
            <a:r>
              <a:rPr kumimoji="1" lang="en-US" altLang="zh-CN" dirty="0"/>
              <a:t>handler</a:t>
            </a:r>
            <a:r>
              <a:rPr kumimoji="1" lang="zh-CN" altLang="en-US" dirty="0"/>
              <a:t> 。</a:t>
            </a:r>
            <a:r>
              <a:rPr kumimoji="1" lang="en-US" altLang="zh-CN" dirty="0"/>
              <a:t>Handler</a:t>
            </a:r>
            <a:r>
              <a:rPr kumimoji="1" lang="zh-CN" altLang="en-US" dirty="0"/>
              <a:t>会调用</a:t>
            </a:r>
            <a:r>
              <a:rPr kumimoji="1" lang="en-US" altLang="zh-CN" dirty="0" err="1"/>
              <a:t>sigreturn</a:t>
            </a:r>
            <a:r>
              <a:rPr kumimoji="1" lang="zh-CN" altLang="en-US" dirty="0"/>
              <a:t>，又是一个系统调用，所以会回到 </a:t>
            </a:r>
            <a:r>
              <a:rPr kumimoji="1" lang="en-US" altLang="zh-CN" dirty="0"/>
              <a:t>kernel</a:t>
            </a:r>
            <a:r>
              <a:rPr kumimoji="1" lang="zh-CN" altLang="en-US" dirty="0"/>
              <a:t>，在</a:t>
            </a:r>
            <a:r>
              <a:rPr kumimoji="1" lang="en-US" altLang="zh-CN" dirty="0"/>
              <a:t>kernel</a:t>
            </a:r>
            <a:r>
              <a:rPr kumimoji="1" lang="zh-CN" altLang="en-US" dirty="0"/>
              <a:t>修改返回的地址，不返回到</a:t>
            </a:r>
            <a:r>
              <a:rPr kumimoji="1" lang="en-US" altLang="zh-CN" dirty="0"/>
              <a:t>handler</a:t>
            </a:r>
            <a:r>
              <a:rPr kumimoji="1" lang="zh-CN" altLang="en-US" dirty="0"/>
              <a:t>，而是返回到</a:t>
            </a:r>
            <a:r>
              <a:rPr kumimoji="1" lang="en-US" altLang="zh-CN" dirty="0" err="1"/>
              <a:t>funcA</a:t>
            </a:r>
            <a:endParaRPr kumimoji="1" lang="en-US" altLang="zh-CN" dirty="0"/>
          </a:p>
          <a:p>
            <a:r>
              <a:rPr kumimoji="1" lang="en-US" altLang="zh-CN" dirty="0"/>
              <a:t>2.</a:t>
            </a:r>
            <a:r>
              <a:rPr kumimoji="1" lang="zh-CN" altLang="en-US" dirty="0"/>
              <a:t>因为我们不返回到</a:t>
            </a:r>
            <a:r>
              <a:rPr kumimoji="1" lang="en-US" altLang="zh-CN" dirty="0"/>
              <a:t>handler</a:t>
            </a:r>
            <a:r>
              <a:rPr kumimoji="1" lang="zh-CN" altLang="en-US" dirty="0"/>
              <a:t>，而是返回到</a:t>
            </a:r>
            <a:r>
              <a:rPr kumimoji="1" lang="en-US" altLang="zh-CN" dirty="0" err="1"/>
              <a:t>fucA</a:t>
            </a:r>
            <a:r>
              <a:rPr kumimoji="1" lang="zh-CN" altLang="en-US" dirty="0"/>
              <a:t>，所以在</a:t>
            </a:r>
            <a:r>
              <a:rPr kumimoji="1" lang="en-US" altLang="zh-CN" dirty="0"/>
              <a:t>user</a:t>
            </a:r>
            <a:r>
              <a:rPr kumimoji="1" lang="zh-CN" altLang="en-US" dirty="0"/>
              <a:t>（</a:t>
            </a:r>
            <a:r>
              <a:rPr kumimoji="1" lang="en-US" altLang="zh-CN" dirty="0"/>
              <a:t>handler</a:t>
            </a:r>
            <a:r>
              <a:rPr kumimoji="1" lang="zh-CN" altLang="en-US" dirty="0"/>
              <a:t>）</a:t>
            </a:r>
            <a:r>
              <a:rPr kumimoji="1" lang="en-US" altLang="zh-CN" dirty="0"/>
              <a:t>-》kernel</a:t>
            </a:r>
            <a:r>
              <a:rPr kumimoji="1" lang="zh-CN" altLang="en-US" dirty="0"/>
              <a:t>这个过程，为了避免</a:t>
            </a:r>
            <a:r>
              <a:rPr kumimoji="1" lang="en-US" altLang="zh-CN" dirty="0" err="1"/>
              <a:t>funcA</a:t>
            </a:r>
            <a:r>
              <a:rPr kumimoji="1" lang="zh-CN" altLang="en-US" dirty="0"/>
              <a:t>的</a:t>
            </a:r>
            <a:r>
              <a:rPr kumimoji="1" lang="en-US" altLang="zh-CN" dirty="0" err="1"/>
              <a:t>trapframe</a:t>
            </a:r>
            <a:r>
              <a:rPr kumimoji="1" lang="zh-CN" altLang="en-US" dirty="0"/>
              <a:t>被</a:t>
            </a:r>
            <a:r>
              <a:rPr kumimoji="1" lang="en-US" altLang="zh-CN" dirty="0"/>
              <a:t>handler</a:t>
            </a:r>
            <a:r>
              <a:rPr kumimoji="1" lang="zh-CN" altLang="en-US" dirty="0"/>
              <a:t>给覆盖掉，需要额外保存一份</a:t>
            </a:r>
            <a:r>
              <a:rPr kumimoji="1" lang="en-US" altLang="zh-CN" dirty="0" err="1"/>
              <a:t>funcA</a:t>
            </a:r>
            <a:r>
              <a:rPr kumimoji="1" lang="zh-CN" altLang="en-US" dirty="0"/>
              <a:t>上下文，保存在</a:t>
            </a:r>
            <a:r>
              <a:rPr kumimoji="1" lang="en-US" altLang="zh-CN" dirty="0"/>
              <a:t>struct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</a:t>
            </a:r>
            <a:r>
              <a:rPr kumimoji="1" lang="zh-CN" altLang="en-US" dirty="0"/>
              <a:t>。具体需要保存的数据可以参考</a:t>
            </a:r>
            <a:r>
              <a:rPr kumimoji="1" lang="en-US" altLang="zh-CN" dirty="0" err="1"/>
              <a:t>trampline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trapframe</a:t>
            </a:r>
            <a:r>
              <a:rPr kumimoji="1" lang="zh-CN" altLang="en-US" dirty="0"/>
              <a:t>，例如需要保存返回地址以及运行时的其他状态。</a:t>
            </a:r>
            <a:endParaRPr kumimoji="1" lang="en-US" altLang="zh-CN" dirty="0"/>
          </a:p>
          <a:p>
            <a:r>
              <a:rPr kumimoji="1" lang="zh-CN" altLang="en-US" dirty="0"/>
              <a:t>具体什么时候保存、恢复，如何返回</a:t>
            </a:r>
            <a:r>
              <a:rPr kumimoji="1" lang="en-US" altLang="zh-CN" dirty="0" err="1"/>
              <a:t>funcA</a:t>
            </a:r>
            <a:r>
              <a:rPr kumimoji="1" lang="zh-CN" altLang="en-US" dirty="0"/>
              <a:t> ，和前面的过程差不多。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 err="1"/>
              <a:t>funcA</a:t>
            </a:r>
            <a:r>
              <a:rPr kumimoji="1" lang="zh-CN" altLang="en-US" dirty="0"/>
              <a:t>的返回值在</a:t>
            </a:r>
            <a:r>
              <a:rPr kumimoji="1" lang="en-US" altLang="zh-CN" dirty="0"/>
              <a:t>a0</a:t>
            </a:r>
            <a:r>
              <a:rPr kumimoji="1" lang="zh-CN" altLang="en-US" dirty="0"/>
              <a:t>中，为了防止</a:t>
            </a:r>
            <a:r>
              <a:rPr kumimoji="1" lang="en-US" altLang="zh-CN" dirty="0" err="1"/>
              <a:t>funcA</a:t>
            </a:r>
            <a:r>
              <a:rPr kumimoji="1" lang="zh-CN" altLang="en-US" dirty="0"/>
              <a:t>的返回值被覆盖掉，我们需要把这个返回值恢复一下 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1970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2026/3/27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2026/3/27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2026/3/27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2026/3/27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2026/3/27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B252F-6087-7C4E-B0CA-E2BDB4052883}" type="datetimeFigureOut">
              <a:rPr kumimoji="1" lang="zh-CN" altLang="en-US" smtClean="0"/>
              <a:t>2026/3/27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iyaoxuan@sjt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Lab Traps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2026.03.26</a:t>
            </a:r>
            <a:r>
              <a:rPr kumimoji="1" lang="zh-CN" altLang="en-US" dirty="0"/>
              <a:t> 张翔</a:t>
            </a:r>
            <a:endParaRPr kumimoji="1" lang="en-US" altLang="zh-CN" dirty="0"/>
          </a:p>
          <a:p>
            <a:r>
              <a:rPr kumimoji="1" lang="en-US" altLang="zh-CN" dirty="0">
                <a:hlinkClick r:id="rId2"/>
              </a:rPr>
              <a:t>xiangzhang@sjtu.edu.cn</a:t>
            </a:r>
            <a:r>
              <a:rPr kumimoji="1" lang="en-US" altLang="zh-CN" dirty="0"/>
              <a:t>  </a:t>
            </a:r>
            <a:r>
              <a:rPr kumimoji="1" lang="zh-CN" altLang="en-US" dirty="0"/>
              <a:t>电院群楼</a:t>
            </a:r>
            <a:r>
              <a:rPr kumimoji="1" lang="en-US" altLang="zh-CN" dirty="0"/>
              <a:t>3-118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A41A4-E84C-B7FD-8E7F-0B24E97F6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9BAD17CB-4B4C-3215-CBAF-AC7D37A91826}"/>
              </a:ext>
            </a:extLst>
          </p:cNvPr>
          <p:cNvSpPr txBox="1"/>
          <p:nvPr/>
        </p:nvSpPr>
        <p:spPr>
          <a:xfrm>
            <a:off x="1134761" y="2242911"/>
            <a:ext cx="86003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CN" sz="3200" dirty="0"/>
              <a:t>Backtrace</a:t>
            </a:r>
          </a:p>
          <a:p>
            <a:endParaRPr kumimoji="1" lang="en-US" altLang="zh-C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CN" sz="3200" dirty="0"/>
              <a:t>Alarm</a:t>
            </a:r>
            <a:endParaRPr kumimoji="1"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898214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427D2-15F1-71F0-5E1A-D6201A84D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44231C04-F9E0-1ABD-5F62-6D72B8DBF060}"/>
              </a:ext>
            </a:extLst>
          </p:cNvPr>
          <p:cNvSpPr txBox="1"/>
          <p:nvPr/>
        </p:nvSpPr>
        <p:spPr>
          <a:xfrm>
            <a:off x="924696" y="661246"/>
            <a:ext cx="860030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Backtrace</a:t>
            </a:r>
          </a:p>
          <a:p>
            <a:endParaRPr kumimoji="1" lang="en-US" altLang="zh-CN" sz="3200" dirty="0"/>
          </a:p>
          <a:p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debugging it is often useful to have a backtrace: a list of the function calls on the stack above the point at which error occurred</a:t>
            </a:r>
            <a:endParaRPr kumimoji="1"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1AF6B64-577E-7D6D-BD19-D6F282EE8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96" y="2687751"/>
            <a:ext cx="9090160" cy="298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728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4202" y="365124"/>
            <a:ext cx="10515600" cy="1325563"/>
          </a:xfrm>
        </p:spPr>
        <p:txBody>
          <a:bodyPr/>
          <a:lstStyle/>
          <a:p>
            <a:r>
              <a:rPr lang="en" altLang="zh-CN" dirty="0"/>
              <a:t>Backtrace</a:t>
            </a:r>
            <a:r>
              <a:rPr kumimoji="1" lang="en-US" altLang="zh-CN" dirty="0"/>
              <a:t>-</a:t>
            </a:r>
            <a:r>
              <a:rPr kumimoji="1" lang="zh-CN" altLang="en-US" dirty="0"/>
              <a:t>栈帧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4C16715-12B5-EC73-2F1D-ADE9F1F26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212" y="556054"/>
            <a:ext cx="2602624" cy="620309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5F997B1-FCA8-F4DA-A286-573F56027D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0857" y="1141527"/>
            <a:ext cx="7021254" cy="5032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zh-C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dirty="0">
                <a:latin typeface="+mn-ea"/>
              </a:rPr>
              <a:t>函数调用是如何发生的</a:t>
            </a:r>
            <a:endParaRPr lang="en-US" altLang="zh-CN" sz="1800" dirty="0">
              <a:latin typeface="+mn-ea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通过</a:t>
            </a:r>
            <a:r>
              <a:rPr kumimoji="0" lang="en-US" altLang="zh-CN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pc</a:t>
            </a:r>
            <a:r>
              <a:rPr kumimoji="0" lang="zh-CN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跳转、通过</a:t>
            </a:r>
            <a:r>
              <a:rPr kumimoji="0" lang="en-US" altLang="zh-CN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ra</a:t>
            </a:r>
            <a:r>
              <a:rPr kumimoji="0" lang="zh-CN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返回</a:t>
            </a:r>
            <a:endParaRPr kumimoji="0" lang="en-US" altLang="zh-CN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现场保存</a:t>
            </a:r>
            <a:endParaRPr kumimoji="0" lang="en-US" altLang="zh-CN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atin typeface="+mn-ea"/>
              </a:rPr>
              <a:t>现场恢复</a:t>
            </a:r>
            <a:endParaRPr lang="en-US" altLang="zh-CN" sz="1400" dirty="0">
              <a:latin typeface="+mn-ea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dirty="0">
                <a:latin typeface="+mn-ea"/>
              </a:rPr>
              <a:t>栈帧存在的意义：保存函数的私人数据、记录回去的路</a:t>
            </a:r>
            <a:endParaRPr kumimoji="0" lang="en-US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sp (Stack Pointer)：指向当前栈的顶部（图中最低地址处），随入栈出栈动态变化。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fp (Frame Pointer)：指向当前栈帧的一个固定基准点。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关键点：sp 会变，但 fp </a:t>
            </a:r>
            <a:r>
              <a:rPr lang="zh-CN" altLang="en-US" sz="1800" dirty="0">
                <a:latin typeface="+mn-ea"/>
              </a:rPr>
              <a:t>与</a:t>
            </a:r>
            <a:r>
              <a:rPr lang="en-US" altLang="zh-CN" sz="1800" dirty="0">
                <a:latin typeface="+mn-ea"/>
              </a:rPr>
              <a:t>return</a:t>
            </a:r>
            <a:r>
              <a:rPr lang="zh-CN" altLang="en-US" sz="1800" dirty="0">
                <a:latin typeface="+mn-ea"/>
              </a:rPr>
              <a:t> </a:t>
            </a:r>
            <a:r>
              <a:rPr lang="en-US" altLang="zh-CN" sz="1800" dirty="0">
                <a:latin typeface="+mn-ea"/>
              </a:rPr>
              <a:t>address</a:t>
            </a:r>
            <a:r>
              <a:rPr lang="zh-CN" altLang="en-US" sz="1800" dirty="0">
                <a:latin typeface="+mn-ea"/>
              </a:rPr>
              <a:t>的相对位置是固定的</a:t>
            </a:r>
            <a:r>
              <a:rPr lang="zh-CN" altLang="zh-CN" sz="1800" dirty="0">
                <a:latin typeface="+mn-ea"/>
              </a:rPr>
              <a:t>。</a:t>
            </a:r>
            <a:r>
              <a:rPr lang="zh-CN" altLang="en-US" sz="1800" dirty="0">
                <a:latin typeface="+mn-ea"/>
              </a:rPr>
              <a:t> </a:t>
            </a:r>
            <a:r>
              <a:rPr lang="en-US" altLang="zh-CN" sz="1800" dirty="0">
                <a:latin typeface="+mn-ea"/>
              </a:rPr>
              <a:t>Fp-8</a:t>
            </a:r>
            <a:r>
              <a:rPr lang="zh-CN" altLang="en-US" sz="1800" dirty="0">
                <a:latin typeface="+mn-ea"/>
              </a:rPr>
              <a:t>就是</a:t>
            </a:r>
            <a:r>
              <a:rPr lang="en-US" altLang="zh-CN" sz="1800" dirty="0">
                <a:latin typeface="+mn-ea"/>
              </a:rPr>
              <a:t>return</a:t>
            </a:r>
            <a:r>
              <a:rPr lang="zh-CN" altLang="en-US" sz="1800" dirty="0">
                <a:latin typeface="+mn-ea"/>
              </a:rPr>
              <a:t> </a:t>
            </a:r>
            <a:r>
              <a:rPr lang="en-US" altLang="zh-CN" sz="1800" dirty="0">
                <a:latin typeface="+mn-ea"/>
              </a:rPr>
              <a:t>address</a:t>
            </a:r>
            <a:r>
              <a:rPr lang="zh-CN" altLang="en-US" sz="1800" dirty="0">
                <a:latin typeface="+mn-ea"/>
              </a:rPr>
              <a:t>的地址，</a:t>
            </a:r>
            <a:r>
              <a:rPr lang="en-US" altLang="zh-CN" sz="1800" dirty="0">
                <a:latin typeface="+mn-ea"/>
              </a:rPr>
              <a:t>fp-16</a:t>
            </a:r>
            <a:r>
              <a:rPr lang="zh-CN" altLang="en-US" sz="1800" dirty="0">
                <a:latin typeface="+mn-ea"/>
              </a:rPr>
              <a:t>就是这个函数前一个函数</a:t>
            </a:r>
            <a:r>
              <a:rPr lang="en-US" altLang="zh-CN" sz="1800" dirty="0" err="1">
                <a:latin typeface="+mn-ea"/>
              </a:rPr>
              <a:t>fp</a:t>
            </a:r>
            <a:r>
              <a:rPr lang="zh-CN" altLang="en-US" sz="1800" dirty="0">
                <a:latin typeface="+mn-ea"/>
              </a:rPr>
              <a:t>指针的地址。</a:t>
            </a:r>
            <a:endParaRPr lang="en-US" altLang="zh-CN" sz="1800" dirty="0">
              <a:latin typeface="+mn-ea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800" dirty="0">
                <a:latin typeface="+mn-ea"/>
              </a:rPr>
              <a:t> s0 寄存器</a:t>
            </a:r>
            <a:r>
              <a:rPr lang="zh-CN" altLang="en-US" sz="1800" dirty="0">
                <a:latin typeface="+mn-ea"/>
              </a:rPr>
              <a:t>存放</a:t>
            </a:r>
            <a:r>
              <a:rPr lang="en-US" altLang="zh-CN" sz="1800" dirty="0" err="1">
                <a:latin typeface="+mn-ea"/>
              </a:rPr>
              <a:t>fp</a:t>
            </a:r>
            <a:r>
              <a:rPr lang="zh-CN" altLang="en-US" sz="1800" dirty="0">
                <a:latin typeface="+mn-ea"/>
              </a:rPr>
              <a:t>指针</a:t>
            </a:r>
            <a:endParaRPr kumimoji="0" lang="zh-CN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dirty="0"/>
              <a:t>Hints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" sz="2000" dirty="0"/>
              <a:t>使用</a:t>
            </a:r>
            <a:r>
              <a:rPr lang="en" altLang="zh-CN" sz="2000" dirty="0" err="1"/>
              <a:t>r_fp</a:t>
            </a:r>
            <a:r>
              <a:rPr lang="en" altLang="zh-CN" sz="2000" dirty="0"/>
              <a:t>()</a:t>
            </a:r>
            <a:r>
              <a:rPr lang="zh-CN" altLang="en" sz="2000" dirty="0"/>
              <a:t>获取</a:t>
            </a:r>
            <a:r>
              <a:rPr lang="en-US" altLang="zh-CN" sz="2000" dirty="0" err="1"/>
              <a:t>fp</a:t>
            </a:r>
            <a:endParaRPr lang="en-US" altLang="zh-CN" sz="2000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5ABC1CF1-56BE-69CF-9297-87D70AC4F7AD}"/>
              </a:ext>
            </a:extLst>
          </p:cNvPr>
          <p:cNvCxnSpPr/>
          <p:nvPr/>
        </p:nvCxnSpPr>
        <p:spPr>
          <a:xfrm>
            <a:off x="10775092" y="1027906"/>
            <a:ext cx="0" cy="495276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91BE150-C80A-2240-6F62-4BDBED127035}"/>
              </a:ext>
            </a:extLst>
          </p:cNvPr>
          <p:cNvSpPr txBox="1"/>
          <p:nvPr/>
        </p:nvSpPr>
        <p:spPr>
          <a:xfrm>
            <a:off x="10799802" y="5436973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地址变小</a:t>
            </a:r>
            <a:endParaRPr kumimoji="1" lang="en-US" altLang="zh-CN" dirty="0"/>
          </a:p>
          <a:p>
            <a:r>
              <a:rPr kumimoji="1" lang="zh-CN" altLang="en-US" dirty="0"/>
              <a:t>方向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/>
              <a:t>Backtrace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zh-CN" dirty="0"/>
          </a:p>
          <a:p>
            <a:r>
              <a:rPr kumimoji="1" lang="zh-CN" altLang="en-US" dirty="0"/>
              <a:t>栈帧有多少函数？往上一个一个找返回地址时，何时停止？</a:t>
            </a:r>
            <a:endParaRPr kumimoji="1" lang="en-US" altLang="zh-CN" dirty="0"/>
          </a:p>
          <a:p>
            <a:pPr lvl="1"/>
            <a:r>
              <a:rPr lang="zh-CN" altLang="en-US" dirty="0"/>
              <a:t>在 </a:t>
            </a:r>
            <a:r>
              <a:rPr lang="en" altLang="zh-CN" dirty="0"/>
              <a:t>xv6 </a:t>
            </a:r>
            <a:r>
              <a:rPr lang="zh-CN" altLang="en-US" dirty="0"/>
              <a:t>中，每个内核栈被分配在一个</a:t>
            </a:r>
            <a:r>
              <a:rPr lang="zh-CN" altLang="en-US" b="1" dirty="0"/>
              <a:t>对齐的内存页</a:t>
            </a:r>
            <a:r>
              <a:rPr lang="zh-CN" altLang="en-US" dirty="0"/>
              <a:t>中 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只要还在同一个内存页中，回溯就是正确的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759AFDF-AD79-B291-95AE-B8C881A667DB}"/>
              </a:ext>
            </a:extLst>
          </p:cNvPr>
          <p:cNvSpPr txBox="1"/>
          <p:nvPr/>
        </p:nvSpPr>
        <p:spPr>
          <a:xfrm>
            <a:off x="838200" y="4887873"/>
            <a:ext cx="609858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 dirty="0"/>
              <a:t>Hints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/>
              <a:t>PGROUNDUP(</a:t>
            </a:r>
            <a:r>
              <a:rPr lang="en" altLang="zh-CN" sz="1800" dirty="0" err="1"/>
              <a:t>fp</a:t>
            </a:r>
            <a:r>
              <a:rPr lang="en" altLang="zh-CN" sz="1800" dirty="0"/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B9DC8-2ADA-4D97-F6C8-D605CDF44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F87740-E5D2-AF2C-F08A-7DECFF350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/>
              <a:t>Backtrace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373989-A3F1-496F-34B7-ADC8B276C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4351338"/>
          </a:xfrm>
        </p:spPr>
        <p:txBody>
          <a:bodyPr/>
          <a:lstStyle/>
          <a:p>
            <a:r>
              <a:rPr kumimoji="1" lang="zh-CN" altLang="en-US" dirty="0"/>
              <a:t>通过</a:t>
            </a:r>
            <a:r>
              <a:rPr kumimoji="1" lang="en-US" altLang="zh-CN" dirty="0"/>
              <a:t>addr2line</a:t>
            </a:r>
            <a:r>
              <a:rPr kumimoji="1" lang="zh-CN" altLang="en-US" dirty="0"/>
              <a:t>工具转化为对应的函数名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FCCED3A-84A4-721B-9601-90A06894F4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0599"/>
          <a:stretch>
            <a:fillRect/>
          </a:stretch>
        </p:blipFill>
        <p:spPr>
          <a:xfrm>
            <a:off x="1152907" y="2411831"/>
            <a:ext cx="3825240" cy="14859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FF75417-D15C-866E-2CBB-9024CB5E9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785428"/>
            <a:ext cx="3924300" cy="8763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141D253-1A78-2F17-EFF4-A9CA3A7997CD}"/>
              </a:ext>
            </a:extLst>
          </p:cNvPr>
          <p:cNvSpPr txBox="1"/>
          <p:nvPr/>
        </p:nvSpPr>
        <p:spPr>
          <a:xfrm>
            <a:off x="5686695" y="2739015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OUTPUT</a:t>
            </a:r>
            <a:endParaRPr kumimoji="1" lang="zh-CN" altLang="en-US" dirty="0"/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324CC59F-BE12-748F-A505-094108C48392}"/>
              </a:ext>
            </a:extLst>
          </p:cNvPr>
          <p:cNvSpPr/>
          <p:nvPr/>
        </p:nvSpPr>
        <p:spPr>
          <a:xfrm>
            <a:off x="5597977" y="3165962"/>
            <a:ext cx="1211692" cy="4381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7486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11C8B-F8CD-C0ED-7CED-9EDEA537B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F41A217C-63A4-C018-AF2D-F9761E227C24}"/>
              </a:ext>
            </a:extLst>
          </p:cNvPr>
          <p:cNvSpPr txBox="1"/>
          <p:nvPr/>
        </p:nvSpPr>
        <p:spPr>
          <a:xfrm>
            <a:off x="1134761" y="2242911"/>
            <a:ext cx="86003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zh-C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CN" sz="3200" dirty="0"/>
              <a:t>Alarm</a:t>
            </a:r>
            <a:endParaRPr kumimoji="1"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32267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Trap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每当：</a:t>
            </a:r>
            <a:endParaRPr lang="en-US" altLang="zh-CN" dirty="0"/>
          </a:p>
          <a:p>
            <a:pPr lvl="1"/>
            <a:r>
              <a:rPr lang="zh-CN" altLang="en-US" sz="2000" dirty="0"/>
              <a:t>系统</a:t>
            </a:r>
            <a:r>
              <a:rPr lang="zh-CN" altLang="zh-CN" sz="2000" dirty="0">
                <a:latin typeface="Arial" panose="020B0604020202020204" pitchFamily="34" charset="0"/>
              </a:rPr>
              <a:t>调用 (System call)</a:t>
            </a:r>
            <a:r>
              <a:rPr lang="zh-CN" altLang="en-US" sz="2000" dirty="0">
                <a:latin typeface="Arial" panose="020B0604020202020204" pitchFamily="34" charset="0"/>
              </a:rPr>
              <a:t>：</a:t>
            </a:r>
            <a:r>
              <a:rPr lang="zh-CN" altLang="zh-CN" sz="2000" dirty="0">
                <a:latin typeface="Arial" panose="020B0604020202020204" pitchFamily="34" charset="0"/>
              </a:rPr>
              <a:t>当用户程序执行 </a:t>
            </a:r>
            <a:r>
              <a:rPr lang="zh-CN" altLang="zh-CN" sz="2000" dirty="0">
                <a:latin typeface="Arial Unicode MS" panose="020B0604020202020204" pitchFamily="34" charset="-128"/>
              </a:rPr>
              <a:t>ecall</a:t>
            </a:r>
            <a:r>
              <a:rPr lang="zh-CN" altLang="zh-CN" sz="2000" dirty="0"/>
              <a:t> 指令，请求内核为其执行某些操作时。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/>
              <a:t>异常</a:t>
            </a:r>
            <a:r>
              <a:rPr lang="zh-CN" altLang="zh-CN" sz="2000" dirty="0">
                <a:latin typeface="Arial" panose="020B0604020202020204" pitchFamily="34" charset="0"/>
              </a:rPr>
              <a:t> (Exception)：指令（无论来自用户还是内核）执行了非法操作，例如除以零或使用了无效的虚拟地址。</a:t>
            </a:r>
            <a:endParaRPr lang="en-US" altLang="zh-CN" sz="2000" dirty="0"/>
          </a:p>
          <a:p>
            <a:pPr lvl="1"/>
            <a:endParaRPr lang="en-US" altLang="zh-CN" sz="2000" b="1" dirty="0">
              <a:latin typeface="Arial" panose="020B0604020202020204" pitchFamily="34" charset="0"/>
            </a:endParaRPr>
          </a:p>
          <a:p>
            <a:pPr lvl="1"/>
            <a:r>
              <a:rPr lang="zh-CN" altLang="zh-CN" sz="2000" dirty="0">
                <a:latin typeface="Arial" panose="020B0604020202020204" pitchFamily="34" charset="0"/>
              </a:rPr>
              <a:t>设备中断 (Device interrupt)：当硬件设备发出信号表示需要处理时，例如磁盘硬件完成了读写请求。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会导致 </a:t>
            </a:r>
            <a:r>
              <a:rPr lang="en" altLang="zh-CN" dirty="0"/>
              <a:t>CPU </a:t>
            </a:r>
            <a:r>
              <a:rPr lang="zh-CN" altLang="en-US" dirty="0"/>
              <a:t>暂时搁置普通的指令执行，并强制将控制权转移到处理该事件的特定代码中。本课程使用</a:t>
            </a:r>
            <a:r>
              <a:rPr lang="en-US" altLang="zh-CN" dirty="0"/>
              <a:t>trap</a:t>
            </a:r>
            <a:r>
              <a:rPr lang="zh-CN" altLang="en-US" dirty="0"/>
              <a:t>作为这些情况的通用术语</a:t>
            </a:r>
            <a:endParaRPr lang="en-US" altLang="zh-CN" dirty="0"/>
          </a:p>
          <a:p>
            <a:endParaRPr kumimoji="1"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Trap</a:t>
            </a:r>
            <a:r>
              <a:rPr kumimoji="1" lang="zh-CN" altLang="en-US" dirty="0"/>
              <a:t>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83015"/>
            <a:ext cx="10515600" cy="4351338"/>
          </a:xfrm>
        </p:spPr>
        <p:txBody>
          <a:bodyPr/>
          <a:lstStyle/>
          <a:p>
            <a:pPr lvl="1"/>
            <a:r>
              <a:rPr kumimoji="1" lang="zh-CN" altLang="en-US" dirty="0"/>
              <a:t>以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系统调用为例，讲解执行系统调用时</a:t>
            </a:r>
            <a:r>
              <a:rPr kumimoji="1" lang="en-US" altLang="zh-CN" dirty="0"/>
              <a:t>trap</a:t>
            </a:r>
            <a:r>
              <a:rPr kumimoji="1" lang="zh-CN" altLang="en-US" dirty="0"/>
              <a:t>过程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CF3E08D-58D5-7E49-084B-4489FE450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540" y="1953486"/>
            <a:ext cx="6736492" cy="4539389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62A7094A-76AA-9D09-3BB7-A9C7AB50D605}"/>
              </a:ext>
            </a:extLst>
          </p:cNvPr>
          <p:cNvSpPr/>
          <p:nvPr/>
        </p:nvSpPr>
        <p:spPr>
          <a:xfrm>
            <a:off x="1561514" y="2335237"/>
            <a:ext cx="2518117" cy="1093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90308F-C0BA-1387-25B0-D3ED907943B9}"/>
              </a:ext>
            </a:extLst>
          </p:cNvPr>
          <p:cNvSpPr txBox="1"/>
          <p:nvPr/>
        </p:nvSpPr>
        <p:spPr>
          <a:xfrm>
            <a:off x="8270045" y="2808578"/>
            <a:ext cx="36983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/>
              <a:t>Write</a:t>
            </a:r>
            <a:r>
              <a:rPr lang="zh-CN" altLang="en-US" dirty="0"/>
              <a:t>通过执行</a:t>
            </a:r>
            <a:r>
              <a:rPr lang="en" altLang="zh-CN" dirty="0" err="1"/>
              <a:t>ecall</a:t>
            </a:r>
            <a:r>
              <a:rPr lang="zh-CN" altLang="en-US" dirty="0"/>
              <a:t>指令来执行系统调用。</a:t>
            </a:r>
            <a:r>
              <a:rPr lang="en" altLang="zh-CN" dirty="0" err="1"/>
              <a:t>ecall</a:t>
            </a:r>
            <a:r>
              <a:rPr lang="zh-CN" altLang="en-US" dirty="0"/>
              <a:t>指令会切换到具有</a:t>
            </a:r>
            <a:r>
              <a:rPr lang="en" altLang="zh-CN" dirty="0"/>
              <a:t>supervisor mode</a:t>
            </a:r>
            <a:r>
              <a:rPr lang="zh-CN" altLang="en-US" dirty="0"/>
              <a:t>的内核中。内核接着第一个执行的指令就是一个由汇编语言编写的函数，叫做</a:t>
            </a:r>
            <a:r>
              <a:rPr lang="en" altLang="zh-CN" dirty="0" err="1"/>
              <a:t>uservec</a:t>
            </a:r>
            <a:r>
              <a:rPr lang="zh-CN" altLang="en" dirty="0"/>
              <a:t>，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3E5CF-0B0F-C8A7-3B9A-38C1A448C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CFA6C8-E598-E693-6793-B437F21C6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Trap</a:t>
            </a:r>
            <a:r>
              <a:rPr kumimoji="1" lang="zh-CN" altLang="en-US" dirty="0"/>
              <a:t>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E88D47-2451-7B37-E211-C475077B9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015"/>
            <a:ext cx="10515600" cy="4351338"/>
          </a:xfrm>
        </p:spPr>
        <p:txBody>
          <a:bodyPr/>
          <a:lstStyle/>
          <a:p>
            <a:pPr lvl="1"/>
            <a:r>
              <a:rPr kumimoji="1" lang="zh-CN" altLang="en-US" dirty="0"/>
              <a:t>以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系统调用为例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37A2515-1C6C-57F1-60A7-0FAC93E36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540" y="1953486"/>
            <a:ext cx="6736492" cy="453938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C12A3EE-0EB2-550D-D146-91A9C5FC62C1}"/>
              </a:ext>
            </a:extLst>
          </p:cNvPr>
          <p:cNvSpPr/>
          <p:nvPr/>
        </p:nvSpPr>
        <p:spPr>
          <a:xfrm>
            <a:off x="1814732" y="3770142"/>
            <a:ext cx="3699803" cy="7737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DDC7B9-74BF-1B88-6057-3D84EB2B8B60}"/>
              </a:ext>
            </a:extLst>
          </p:cNvPr>
          <p:cNvSpPr txBox="1"/>
          <p:nvPr/>
        </p:nvSpPr>
        <p:spPr>
          <a:xfrm>
            <a:off x="8106033" y="2418033"/>
            <a:ext cx="37791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 err="1"/>
              <a:t>uservec</a:t>
            </a:r>
            <a:r>
              <a:rPr lang="zh-CN" altLang="en-US" dirty="0"/>
              <a:t>这个函数的实现在内核代码</a:t>
            </a:r>
            <a:r>
              <a:rPr lang="en" altLang="zh-CN" dirty="0" err="1"/>
              <a:t>trampoline.s</a:t>
            </a:r>
            <a:r>
              <a:rPr lang="zh-CN" altLang="en-US" dirty="0"/>
              <a:t>文件中。</a:t>
            </a:r>
          </a:p>
          <a:p>
            <a:r>
              <a:rPr lang="en" altLang="zh-CN" dirty="0" err="1"/>
              <a:t>Uservec</a:t>
            </a:r>
            <a:r>
              <a:rPr lang="zh-CN" altLang="en-US" dirty="0"/>
              <a:t>函数之后，会跳转到由</a:t>
            </a:r>
            <a:r>
              <a:rPr lang="en" altLang="zh-CN" dirty="0"/>
              <a:t>c</a:t>
            </a:r>
            <a:r>
              <a:rPr lang="zh-CN" altLang="en-US" dirty="0"/>
              <a:t>语言实现的函数</a:t>
            </a:r>
            <a:endParaRPr lang="en" altLang="zh-CN" dirty="0"/>
          </a:p>
        </p:txBody>
      </p:sp>
    </p:spTree>
    <p:extLst>
      <p:ext uri="{BB962C8B-B14F-4D97-AF65-F5344CB8AC3E}">
        <p14:creationId xmlns:p14="http://schemas.microsoft.com/office/powerpoint/2010/main" val="341060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0A325-96E7-77B7-5A81-B14F9F2D2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107719-F916-D4BE-17B0-8DB70FACC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Trap</a:t>
            </a:r>
            <a:r>
              <a:rPr kumimoji="1" lang="zh-CN" altLang="en-US" dirty="0"/>
              <a:t>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E16337-1E23-C53F-1074-13FABF865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015"/>
            <a:ext cx="10515600" cy="4351338"/>
          </a:xfrm>
        </p:spPr>
        <p:txBody>
          <a:bodyPr/>
          <a:lstStyle/>
          <a:p>
            <a:pPr lvl="1"/>
            <a:r>
              <a:rPr kumimoji="1" lang="zh-CN" altLang="en-US" dirty="0"/>
              <a:t>以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系统调用为例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4C57348-2939-86B5-A89B-555C36F72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540" y="1953486"/>
            <a:ext cx="6736492" cy="453938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EE9DF16-A971-4113-23B9-2D6159E82C9F}"/>
              </a:ext>
            </a:extLst>
          </p:cNvPr>
          <p:cNvSpPr/>
          <p:nvPr/>
        </p:nvSpPr>
        <p:spPr>
          <a:xfrm>
            <a:off x="1885071" y="4557932"/>
            <a:ext cx="2518117" cy="6295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9A37DE-1B84-FB32-8B1A-3C85EA6BA3FF}"/>
              </a:ext>
            </a:extLst>
          </p:cNvPr>
          <p:cNvSpPr txBox="1"/>
          <p:nvPr/>
        </p:nvSpPr>
        <p:spPr>
          <a:xfrm>
            <a:off x="8157284" y="2512663"/>
            <a:ext cx="33652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 err="1"/>
              <a:t>usertrap</a:t>
            </a:r>
            <a:r>
              <a:rPr lang="zh-CN" altLang="en-US" dirty="0"/>
              <a:t>的实现在</a:t>
            </a:r>
            <a:r>
              <a:rPr lang="en" altLang="zh-CN" dirty="0" err="1"/>
              <a:t>trap.c</a:t>
            </a:r>
            <a:r>
              <a:rPr lang="zh-CN" altLang="en-US" dirty="0"/>
              <a:t>中。</a:t>
            </a:r>
          </a:p>
          <a:p>
            <a:r>
              <a:rPr lang="zh-CN" altLang="en-US" dirty="0"/>
              <a:t>在</a:t>
            </a:r>
            <a:r>
              <a:rPr lang="en" altLang="zh-CN" dirty="0" err="1"/>
              <a:t>usertrap</a:t>
            </a:r>
            <a:r>
              <a:rPr lang="zh-CN" altLang="en-US" dirty="0"/>
              <a:t>这个</a:t>
            </a:r>
            <a:r>
              <a:rPr lang="en" altLang="zh-CN" dirty="0"/>
              <a:t>c</a:t>
            </a:r>
            <a:r>
              <a:rPr lang="zh-CN" altLang="en-US" dirty="0"/>
              <a:t>语言函数中，执行了一个叫做</a:t>
            </a:r>
            <a:r>
              <a:rPr lang="en" altLang="zh-CN" dirty="0" err="1"/>
              <a:t>syscall</a:t>
            </a:r>
            <a:r>
              <a:rPr lang="zh-CN" altLang="en-US" dirty="0"/>
              <a:t>的函数。</a:t>
            </a:r>
          </a:p>
        </p:txBody>
      </p:sp>
    </p:spTree>
    <p:extLst>
      <p:ext uri="{BB962C8B-B14F-4D97-AF65-F5344CB8AC3E}">
        <p14:creationId xmlns:p14="http://schemas.microsoft.com/office/powerpoint/2010/main" val="304953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5CA7B-15FD-DD48-438E-9CAACE3B2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094BB0-93A4-9CBC-DFA0-829E8B6A5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Trap</a:t>
            </a:r>
            <a:r>
              <a:rPr kumimoji="1" lang="zh-CN" altLang="en-US" dirty="0"/>
              <a:t>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ED908F-820D-DCDC-4CE4-F29D047ED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015"/>
            <a:ext cx="10515600" cy="4351338"/>
          </a:xfrm>
        </p:spPr>
        <p:txBody>
          <a:bodyPr/>
          <a:lstStyle/>
          <a:p>
            <a:pPr lvl="1"/>
            <a:r>
              <a:rPr kumimoji="1" lang="zh-CN" altLang="en-US" dirty="0"/>
              <a:t>以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系统调用为例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B8E63A6-A510-0D55-5F29-D35AA1C91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540" y="1953486"/>
            <a:ext cx="6736492" cy="453938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BC0268E-D27C-6B36-A4C5-B7E79309AE38}"/>
              </a:ext>
            </a:extLst>
          </p:cNvPr>
          <p:cNvSpPr/>
          <p:nvPr/>
        </p:nvSpPr>
        <p:spPr>
          <a:xfrm>
            <a:off x="1758462" y="5275385"/>
            <a:ext cx="2518117" cy="6464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A64E08-3E97-4644-0423-BE9E063638A8}"/>
              </a:ext>
            </a:extLst>
          </p:cNvPr>
          <p:cNvSpPr txBox="1"/>
          <p:nvPr/>
        </p:nvSpPr>
        <p:spPr>
          <a:xfrm>
            <a:off x="8468193" y="2831122"/>
            <a:ext cx="288560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syscall</a:t>
            </a:r>
            <a:r>
              <a:rPr lang="zh-CN" altLang="en-US" dirty="0"/>
              <a:t>这个函数会在一个表单中，根据传入的代表系统调用的数字进行查找，并在内核中执行具体实现了系统调用功能的函数。对于我们来说，这个函数就是</a:t>
            </a:r>
            <a:r>
              <a:rPr lang="en" altLang="zh-CN" dirty="0" err="1"/>
              <a:t>sys_write</a:t>
            </a:r>
            <a:r>
              <a:rPr lang="zh-CN" altLang="en" dirty="0"/>
              <a:t>。</a:t>
            </a:r>
            <a:endParaRPr lang="en" altLang="zh-CN" dirty="0"/>
          </a:p>
        </p:txBody>
      </p:sp>
    </p:spTree>
    <p:extLst>
      <p:ext uri="{BB962C8B-B14F-4D97-AF65-F5344CB8AC3E}">
        <p14:creationId xmlns:p14="http://schemas.microsoft.com/office/powerpoint/2010/main" val="3278768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29C80-850F-2912-6835-B0C7CE708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254A0A-1028-77C0-4D15-FF7BEE241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Trap</a:t>
            </a:r>
            <a:r>
              <a:rPr kumimoji="1" lang="zh-CN" altLang="en-US" dirty="0"/>
              <a:t>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86FCAB-8FD2-BCDB-3BC8-89A58660F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015"/>
            <a:ext cx="10515600" cy="4351338"/>
          </a:xfrm>
        </p:spPr>
        <p:txBody>
          <a:bodyPr/>
          <a:lstStyle/>
          <a:p>
            <a:pPr lvl="1"/>
            <a:r>
              <a:rPr kumimoji="1" lang="zh-CN" altLang="en-US" dirty="0"/>
              <a:t>以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系统调用为例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9FD55B6-FE26-747C-27D7-E10D41F26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540" y="1953486"/>
            <a:ext cx="6736492" cy="453938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0CFDE95-4036-C7D3-6480-3FBCA3BB9920}"/>
              </a:ext>
            </a:extLst>
          </p:cNvPr>
          <p:cNvSpPr/>
          <p:nvPr/>
        </p:nvSpPr>
        <p:spPr>
          <a:xfrm>
            <a:off x="1885071" y="5978769"/>
            <a:ext cx="2518117" cy="6652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5EA6221-8099-DB38-9F01-DD054ED0F165}"/>
              </a:ext>
            </a:extLst>
          </p:cNvPr>
          <p:cNvSpPr txBox="1"/>
          <p:nvPr/>
        </p:nvSpPr>
        <p:spPr>
          <a:xfrm>
            <a:off x="8621563" y="2193117"/>
            <a:ext cx="32153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b="0" i="0" dirty="0" err="1">
                <a:effectLst/>
                <a:latin typeface="UICTFontTextStyleBody"/>
              </a:rPr>
              <a:t>sys_write</a:t>
            </a:r>
            <a:r>
              <a:rPr lang="zh-CN" altLang="en-US" b="0" i="0" dirty="0">
                <a:effectLst/>
                <a:latin typeface="UICTFontTextStyleBody"/>
              </a:rPr>
              <a:t>会将要显示的数据输出到</a:t>
            </a:r>
            <a:r>
              <a:rPr lang="en" altLang="zh-CN" b="0" i="0" dirty="0">
                <a:effectLst/>
                <a:latin typeface="UICTFontTextStyleBody"/>
              </a:rPr>
              <a:t>console</a:t>
            </a:r>
            <a:r>
              <a:rPr lang="zh-CN" altLang="en-US" b="0" i="0" dirty="0">
                <a:effectLst/>
                <a:latin typeface="UICTFontTextStyleBody"/>
              </a:rPr>
              <a:t>上，当它完成了之后，它会返回给</a:t>
            </a:r>
            <a:r>
              <a:rPr lang="en" altLang="zh-CN" b="0" i="0" dirty="0" err="1">
                <a:effectLst/>
                <a:latin typeface="UICTFontTextStyleBody"/>
              </a:rPr>
              <a:t>syscall</a:t>
            </a:r>
            <a:r>
              <a:rPr lang="zh-CN" altLang="en-US" b="0" i="0" dirty="0">
                <a:effectLst/>
                <a:latin typeface="UICTFontTextStyleBody"/>
              </a:rPr>
              <a:t>函数。</a:t>
            </a:r>
            <a:endParaRPr lang="zh-CN" altLang="en-US" dirty="0">
              <a:effectLst/>
              <a:latin typeface=".AppleSystemUIFont"/>
            </a:endParaRPr>
          </a:p>
          <a:p>
            <a:pPr>
              <a:buNone/>
            </a:pPr>
            <a:br>
              <a:rPr lang="zh-CN" altLang="en-US" dirty="0">
                <a:effectLst/>
                <a:latin typeface=".AppleSystemUIFont"/>
              </a:rPr>
            </a:br>
            <a:endParaRPr lang="zh-CN" altLang="en-US" dirty="0"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3508196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74EF2-7305-C741-9DAB-6A265CAA7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7D4070-757E-2E23-0E39-67F3F9CF1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Trap</a:t>
            </a:r>
            <a:r>
              <a:rPr kumimoji="1" lang="zh-CN" altLang="en-US" dirty="0"/>
              <a:t>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B0FF77-FDB4-8EE3-D4B7-717F6E780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015"/>
            <a:ext cx="10515600" cy="4351338"/>
          </a:xfrm>
        </p:spPr>
        <p:txBody>
          <a:bodyPr/>
          <a:lstStyle/>
          <a:p>
            <a:pPr lvl="1"/>
            <a:r>
              <a:rPr kumimoji="1" lang="zh-CN" altLang="en-US" dirty="0"/>
              <a:t>以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系统调用为例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E1A6878-E7DD-2E9C-6912-621546CAB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540" y="1953486"/>
            <a:ext cx="6736492" cy="453938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D244AC7-FB5F-D8AF-7A38-3C090014AA9C}"/>
              </a:ext>
            </a:extLst>
          </p:cNvPr>
          <p:cNvSpPr/>
          <p:nvPr/>
        </p:nvSpPr>
        <p:spPr>
          <a:xfrm>
            <a:off x="1842868" y="5247249"/>
            <a:ext cx="2518117" cy="6398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4ED9EA1-BDEC-AC33-97ED-C86A001D2976}"/>
              </a:ext>
            </a:extLst>
          </p:cNvPr>
          <p:cNvSpPr txBox="1"/>
          <p:nvPr/>
        </p:nvSpPr>
        <p:spPr>
          <a:xfrm>
            <a:off x="8265818" y="1690688"/>
            <a:ext cx="35613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zh-CN" altLang="en-US" dirty="0">
              <a:effectLst/>
              <a:latin typeface=".AppleSystemUIFont"/>
            </a:endParaRPr>
          </a:p>
          <a:p>
            <a:pPr>
              <a:buNone/>
            </a:pPr>
            <a:r>
              <a:rPr lang="zh-CN" altLang="en-US" b="0" i="0" dirty="0">
                <a:effectLst/>
                <a:latin typeface="UICTFontTextStyleBody"/>
              </a:rPr>
              <a:t>因为我们现在相当于在</a:t>
            </a:r>
            <a:r>
              <a:rPr lang="en" altLang="zh-CN" b="0" i="0" dirty="0">
                <a:effectLst/>
                <a:latin typeface="UICTFontTextStyleBody"/>
              </a:rPr>
              <a:t>ECALL</a:t>
            </a:r>
            <a:r>
              <a:rPr lang="zh-CN" altLang="en-US" b="0" i="0" dirty="0">
                <a:effectLst/>
                <a:latin typeface="UICTFontTextStyleBody"/>
              </a:rPr>
              <a:t>之后中断了用户代码的执行，为了用户空间的代码恢复执行，需要做一系列的事情。在</a:t>
            </a:r>
            <a:r>
              <a:rPr lang="en" altLang="zh-CN" b="0" i="0" dirty="0" err="1">
                <a:effectLst/>
                <a:latin typeface="UICTFontTextStyleBody"/>
              </a:rPr>
              <a:t>syscall</a:t>
            </a:r>
            <a:r>
              <a:rPr lang="zh-CN" altLang="en-US" b="0" i="0" dirty="0">
                <a:effectLst/>
                <a:latin typeface="UICTFontTextStyleBody"/>
              </a:rPr>
              <a:t>函数中，会调用一个函数叫做</a:t>
            </a:r>
            <a:r>
              <a:rPr lang="en" altLang="zh-CN" b="0" i="0" dirty="0" err="1">
                <a:effectLst/>
                <a:latin typeface="UICTFontTextStyleBody"/>
              </a:rPr>
              <a:t>usertrapret</a:t>
            </a:r>
            <a:r>
              <a:rPr lang="zh-CN" altLang="en" b="0" i="0" dirty="0">
                <a:effectLst/>
                <a:latin typeface="UICTFontTextStyleBody"/>
              </a:rPr>
              <a:t>，</a:t>
            </a:r>
            <a:endParaRPr lang="zh-CN" altLang="en-US" dirty="0"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2531851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0FC8A-468B-1088-192A-814C591E0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7CB395-2D6A-2BDF-A4DC-FF4C5D122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Trap</a:t>
            </a:r>
            <a:r>
              <a:rPr kumimoji="1" lang="zh-CN" altLang="en-US" dirty="0"/>
              <a:t>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AAC094-9136-3AB8-AFDC-8451A2ADA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015"/>
            <a:ext cx="10515600" cy="4351338"/>
          </a:xfrm>
        </p:spPr>
        <p:txBody>
          <a:bodyPr/>
          <a:lstStyle/>
          <a:p>
            <a:pPr lvl="1"/>
            <a:r>
              <a:rPr kumimoji="1" lang="zh-CN" altLang="en-US" dirty="0"/>
              <a:t>以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系统调用为例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166A578-82B7-7045-8D2C-1F02CEE5F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540" y="1953486"/>
            <a:ext cx="6736492" cy="453938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C0DE867-EA9F-9FFB-6063-4B378045270F}"/>
              </a:ext>
            </a:extLst>
          </p:cNvPr>
          <p:cNvSpPr/>
          <p:nvPr/>
        </p:nvSpPr>
        <p:spPr>
          <a:xfrm>
            <a:off x="5587915" y="4689185"/>
            <a:ext cx="2518117" cy="6398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F3E44B-B244-2403-2953-87E5D0DAC4DB}"/>
              </a:ext>
            </a:extLst>
          </p:cNvPr>
          <p:cNvSpPr txBox="1"/>
          <p:nvPr/>
        </p:nvSpPr>
        <p:spPr>
          <a:xfrm>
            <a:off x="8386996" y="1953486"/>
            <a:ext cx="33053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b="0" i="0" dirty="0" err="1">
                <a:effectLst/>
                <a:latin typeface="UICTFontTextStyleBody"/>
              </a:rPr>
              <a:t>usertrapret</a:t>
            </a:r>
            <a:r>
              <a:rPr lang="zh-CN" altLang="en" b="0" i="0" dirty="0">
                <a:effectLst/>
                <a:latin typeface="UICTFontTextStyleBody"/>
              </a:rPr>
              <a:t>，</a:t>
            </a:r>
            <a:r>
              <a:rPr lang="zh-CN" altLang="en-US" b="0" i="0" dirty="0">
                <a:effectLst/>
                <a:latin typeface="UICTFontTextStyleBody"/>
              </a:rPr>
              <a:t>它也位于</a:t>
            </a:r>
            <a:r>
              <a:rPr lang="en" altLang="zh-CN" b="0" i="0" dirty="0" err="1">
                <a:effectLst/>
                <a:latin typeface="UICTFontTextStyleBody"/>
              </a:rPr>
              <a:t>trap.c</a:t>
            </a:r>
            <a:r>
              <a:rPr lang="zh-CN" altLang="en-US" b="0" i="0" dirty="0">
                <a:effectLst/>
                <a:latin typeface="UICTFontTextStyleBody"/>
              </a:rPr>
              <a:t>中，这个函数完成了部分方便在</a:t>
            </a:r>
            <a:r>
              <a:rPr lang="en" altLang="zh-CN" b="0" i="0" dirty="0">
                <a:effectLst/>
                <a:latin typeface="UICTFontTextStyleBody"/>
              </a:rPr>
              <a:t>C</a:t>
            </a:r>
            <a:r>
              <a:rPr lang="zh-CN" altLang="en-US" b="0" i="0" dirty="0">
                <a:effectLst/>
                <a:latin typeface="UICTFontTextStyleBody"/>
              </a:rPr>
              <a:t>代码中实现的返回到用户空间的工作。</a:t>
            </a:r>
            <a:endParaRPr lang="zh-CN" altLang="en-US" dirty="0">
              <a:effectLst/>
              <a:latin typeface=".AppleSystemUIFont"/>
            </a:endParaRPr>
          </a:p>
          <a:p>
            <a:pPr>
              <a:buNone/>
            </a:pPr>
            <a:br>
              <a:rPr lang="zh-CN" altLang="en-US" dirty="0">
                <a:effectLst/>
                <a:latin typeface=".AppleSystemUIFont"/>
              </a:rPr>
            </a:br>
            <a:endParaRPr lang="zh-CN" altLang="en-US" dirty="0"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1816241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14D3-AD6C-B6CF-8F0A-B74EE57E5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6D4C7-FBE0-4A45-6E83-32565EDE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Trap</a:t>
            </a:r>
            <a:r>
              <a:rPr kumimoji="1" lang="zh-CN" altLang="en-US" dirty="0"/>
              <a:t>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D5E22D-D66F-5579-BBDE-00DFFF780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015"/>
            <a:ext cx="10515600" cy="4351338"/>
          </a:xfrm>
        </p:spPr>
        <p:txBody>
          <a:bodyPr/>
          <a:lstStyle/>
          <a:p>
            <a:pPr lvl="1"/>
            <a:r>
              <a:rPr kumimoji="1" lang="zh-CN" altLang="en-US" dirty="0"/>
              <a:t>以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系统调用为例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05403DA-608B-D5C4-3E2E-B604C1367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540" y="1953486"/>
            <a:ext cx="6736492" cy="453938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36D7889-CE83-36B4-4745-8F1D89B7B82F}"/>
              </a:ext>
            </a:extLst>
          </p:cNvPr>
          <p:cNvSpPr/>
          <p:nvPr/>
        </p:nvSpPr>
        <p:spPr>
          <a:xfrm>
            <a:off x="5770795" y="3788853"/>
            <a:ext cx="2518117" cy="6398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CA92C6-B7BD-F354-E8F9-6D2093B4FC50}"/>
              </a:ext>
            </a:extLst>
          </p:cNvPr>
          <p:cNvSpPr txBox="1"/>
          <p:nvPr/>
        </p:nvSpPr>
        <p:spPr>
          <a:xfrm>
            <a:off x="8369767" y="2515020"/>
            <a:ext cx="272029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0" i="0" dirty="0">
                <a:effectLst/>
                <a:latin typeface="UICTFontTextStyleBody"/>
              </a:rPr>
              <a:t>除此之外，最终还有一些工作只能在汇编语言中完成。这部分工作通过汇编语言实现，并且存在于</a:t>
            </a:r>
            <a:r>
              <a:rPr lang="en" altLang="zh-CN" b="0" i="0" dirty="0" err="1">
                <a:effectLst/>
                <a:latin typeface="UICTFontTextStyleBody"/>
              </a:rPr>
              <a:t>trampoline.s</a:t>
            </a:r>
            <a:r>
              <a:rPr lang="zh-CN" altLang="en-US" b="0" i="0" dirty="0">
                <a:effectLst/>
                <a:latin typeface="UICTFontTextStyleBody"/>
              </a:rPr>
              <a:t>文件中的</a:t>
            </a:r>
            <a:r>
              <a:rPr lang="en" altLang="zh-CN" b="0" i="0" dirty="0" err="1">
                <a:effectLst/>
                <a:latin typeface="UICTFontTextStyleBody"/>
              </a:rPr>
              <a:t>userret</a:t>
            </a:r>
            <a:r>
              <a:rPr lang="zh-CN" altLang="en-US" b="0" i="0" dirty="0">
                <a:effectLst/>
                <a:latin typeface="UICTFontTextStyleBody"/>
              </a:rPr>
              <a:t>函数中。</a:t>
            </a:r>
            <a:endParaRPr lang="zh-CN" altLang="en-US" dirty="0">
              <a:effectLst/>
              <a:latin typeface=".AppleSystemUIFont"/>
            </a:endParaRPr>
          </a:p>
          <a:p>
            <a:pPr>
              <a:buNone/>
            </a:pPr>
            <a:br>
              <a:rPr lang="zh-CN" altLang="en-US" dirty="0">
                <a:effectLst/>
                <a:latin typeface=".AppleSystemUIFont"/>
              </a:rPr>
            </a:br>
            <a:endParaRPr lang="zh-CN" altLang="en-US" dirty="0"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2034420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AB9C5-5DEA-BDCC-A50B-8439997C0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50336E-2A77-C7D4-3A9E-108A09414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Trap</a:t>
            </a:r>
            <a:r>
              <a:rPr kumimoji="1" lang="zh-CN" altLang="en-US" dirty="0"/>
              <a:t>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4DF7F7-C345-769B-3B45-824ACAB04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015"/>
            <a:ext cx="10515600" cy="4351338"/>
          </a:xfrm>
        </p:spPr>
        <p:txBody>
          <a:bodyPr/>
          <a:lstStyle/>
          <a:p>
            <a:pPr lvl="1"/>
            <a:r>
              <a:rPr kumimoji="1" lang="zh-CN" altLang="en-US" dirty="0"/>
              <a:t>以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系统调用为例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144F693-2D52-7746-FDB4-99D2CC55E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540" y="1953486"/>
            <a:ext cx="6736492" cy="453938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BAD41B3-2621-78E1-A3A2-8D5C5977BD6D}"/>
              </a:ext>
            </a:extLst>
          </p:cNvPr>
          <p:cNvSpPr/>
          <p:nvPr/>
        </p:nvSpPr>
        <p:spPr>
          <a:xfrm>
            <a:off x="1578622" y="2292668"/>
            <a:ext cx="2518117" cy="6398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B780F4-CC24-4005-947E-60BBA41A47C4}"/>
              </a:ext>
            </a:extLst>
          </p:cNvPr>
          <p:cNvSpPr txBox="1"/>
          <p:nvPr/>
        </p:nvSpPr>
        <p:spPr>
          <a:xfrm>
            <a:off x="8310508" y="2828835"/>
            <a:ext cx="33652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0" i="0" dirty="0">
                <a:effectLst/>
                <a:latin typeface="UICTFontTextStyleBody"/>
              </a:rPr>
              <a:t>最终，在这个汇编函数中会调用机器指令返回到用户空间，并且恢复</a:t>
            </a:r>
            <a:r>
              <a:rPr lang="en" altLang="zh-CN" b="0" i="0" dirty="0">
                <a:effectLst/>
                <a:latin typeface="UICTFontTextStyleBody"/>
              </a:rPr>
              <a:t>ECALL</a:t>
            </a:r>
            <a:r>
              <a:rPr lang="zh-CN" altLang="en-US" b="0" i="0" dirty="0">
                <a:effectLst/>
                <a:latin typeface="UICTFontTextStyleBody"/>
              </a:rPr>
              <a:t>之后的用户程序的执行。</a:t>
            </a:r>
            <a:endParaRPr lang="zh-CN" altLang="en-US" dirty="0"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3795380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1F2B2-2DB6-1529-3268-119F4309B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5DAA1E-E71F-4D81-EE50-A932094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Trap</a:t>
            </a:r>
            <a:r>
              <a:rPr kumimoji="1" lang="zh-CN" altLang="en-US" dirty="0"/>
              <a:t>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81B537-A3E9-F704-959A-2018A314E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015"/>
            <a:ext cx="10515600" cy="4351338"/>
          </a:xfrm>
        </p:spPr>
        <p:txBody>
          <a:bodyPr/>
          <a:lstStyle/>
          <a:p>
            <a:pPr lvl="1"/>
            <a:r>
              <a:rPr kumimoji="1" lang="zh-CN" altLang="en-US" dirty="0"/>
              <a:t>以系统调用为例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2DDEDB4-C1CA-7028-5F3E-01FF3483D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962" y="2048218"/>
            <a:ext cx="6972300" cy="44323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10BF27E-21FC-0265-DEC0-1A8EC98E34A5}"/>
              </a:ext>
            </a:extLst>
          </p:cNvPr>
          <p:cNvSpPr txBox="1"/>
          <p:nvPr/>
        </p:nvSpPr>
        <p:spPr>
          <a:xfrm>
            <a:off x="6529887" y="4781863"/>
            <a:ext cx="53367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Spec</a:t>
            </a:r>
            <a:r>
              <a:rPr kumimoji="1" lang="zh-CN" altLang="en-US" dirty="0"/>
              <a:t>寄存器存放了未来返回的返航坐标</a:t>
            </a:r>
            <a:endParaRPr kumimoji="1" lang="en-US" altLang="zh-CN" dirty="0"/>
          </a:p>
          <a:p>
            <a:r>
              <a:rPr kumimoji="1" lang="en-US" altLang="zh-CN" dirty="0" err="1"/>
              <a:t>Stvec</a:t>
            </a:r>
            <a:r>
              <a:rPr kumimoji="1" lang="zh-CN" altLang="en-US" dirty="0"/>
              <a:t>寄存器存放了</a:t>
            </a:r>
            <a:r>
              <a:rPr kumimoji="1" lang="en-US" altLang="zh-CN" dirty="0"/>
              <a:t>trap</a:t>
            </a:r>
            <a:r>
              <a:rPr kumimoji="1" lang="zh-CN" altLang="en-US" dirty="0"/>
              <a:t>的进入点，即</a:t>
            </a:r>
            <a:r>
              <a:rPr kumimoji="1" lang="en-US" altLang="zh-CN" dirty="0" err="1"/>
              <a:t>uservec</a:t>
            </a:r>
            <a:r>
              <a:rPr kumimoji="1" lang="zh-CN" altLang="en-US" dirty="0"/>
              <a:t>的地址</a:t>
            </a:r>
          </a:p>
        </p:txBody>
      </p:sp>
    </p:spTree>
    <p:extLst>
      <p:ext uri="{BB962C8B-B14F-4D97-AF65-F5344CB8AC3E}">
        <p14:creationId xmlns:p14="http://schemas.microsoft.com/office/powerpoint/2010/main" val="2655336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EAB6D-9330-A837-799D-F4E518E83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A38C9-5E0F-7414-27C9-D2D518C6B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Trap</a:t>
            </a:r>
            <a:r>
              <a:rPr kumimoji="1" lang="zh-CN" altLang="en-US" dirty="0"/>
              <a:t>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6F9CB7-0910-EDF1-8511-DAEC6E999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015"/>
            <a:ext cx="10515600" cy="4351338"/>
          </a:xfrm>
        </p:spPr>
        <p:txBody>
          <a:bodyPr/>
          <a:lstStyle/>
          <a:p>
            <a:pPr lvl="1"/>
            <a:r>
              <a:rPr kumimoji="1" lang="zh-CN" altLang="en-US" dirty="0"/>
              <a:t>以系统调用为例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A1DC728-F2CF-10EE-C52F-CD4E8B597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598" y="2008478"/>
            <a:ext cx="7493000" cy="16002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375A889-EFBA-B6AE-4B18-2A348FFBB2A4}"/>
              </a:ext>
            </a:extLst>
          </p:cNvPr>
          <p:cNvSpPr txBox="1"/>
          <p:nvPr/>
        </p:nvSpPr>
        <p:spPr>
          <a:xfrm>
            <a:off x="1521598" y="3988757"/>
            <a:ext cx="50898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Usertrap</a:t>
            </a:r>
            <a:r>
              <a:rPr kumimoji="1" lang="zh-CN" altLang="en-US" dirty="0"/>
              <a:t>函数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/>
              <a:t>修改</a:t>
            </a:r>
            <a:r>
              <a:rPr kumimoji="1" lang="en-US" altLang="zh-CN" dirty="0" err="1">
                <a:solidFill>
                  <a:srgbClr val="FF0000"/>
                </a:solidFill>
              </a:rPr>
              <a:t>stvec</a:t>
            </a:r>
            <a:r>
              <a:rPr kumimoji="1" lang="en-US" altLang="zh-CN" dirty="0"/>
              <a:t>=</a:t>
            </a:r>
            <a:r>
              <a:rPr kumimoji="1" lang="en-US" altLang="zh-CN" dirty="0" err="1"/>
              <a:t>kernelvec</a:t>
            </a:r>
            <a:r>
              <a:rPr kumimoji="1" lang="zh-CN" altLang="en-US" dirty="0"/>
              <a:t>，保存</a:t>
            </a:r>
            <a:r>
              <a:rPr kumimoji="1" lang="en-US" altLang="zh-CN" dirty="0">
                <a:solidFill>
                  <a:srgbClr val="FF0000"/>
                </a:solidFill>
              </a:rPr>
              <a:t>spec</a:t>
            </a:r>
            <a:r>
              <a:rPr kumimoji="1" lang="zh-CN" altLang="en-US" dirty="0"/>
              <a:t>到</a:t>
            </a:r>
            <a:r>
              <a:rPr kumimoji="1" lang="en-US" altLang="zh-CN" dirty="0" err="1"/>
              <a:t>trapframe</a:t>
            </a:r>
            <a:endParaRPr kumimoji="1" lang="en-US" altLang="zh-CN" dirty="0"/>
          </a:p>
          <a:p>
            <a:pPr marL="342900" indent="-342900">
              <a:buFontTx/>
              <a:buAutoNum type="arabicPeriod"/>
            </a:pPr>
            <a:r>
              <a:rPr kumimoji="1" lang="zh-CN" altLang="en-US" dirty="0"/>
              <a:t>分情况，执行系统调用</a:t>
            </a:r>
            <a:r>
              <a:rPr kumimoji="1" lang="en-US" altLang="zh-CN" dirty="0"/>
              <a:t>/</a:t>
            </a:r>
            <a:r>
              <a:rPr kumimoji="1" lang="zh-CN" altLang="en-US" dirty="0"/>
              <a:t>中断</a:t>
            </a:r>
            <a:r>
              <a:rPr kumimoji="1" lang="en-US" altLang="zh-CN" dirty="0"/>
              <a:t>/</a:t>
            </a:r>
            <a:r>
              <a:rPr kumimoji="1" lang="zh-CN" altLang="en-US" dirty="0"/>
              <a:t>异常的处理逻辑</a:t>
            </a:r>
            <a:endParaRPr kumimoji="1" lang="en-US" altLang="zh-CN" dirty="0"/>
          </a:p>
          <a:p>
            <a:pPr marL="342900" indent="-342900">
              <a:buAutoNum type="arabicPeriod"/>
            </a:pP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1935FFA-3B12-AF33-7DCE-6485798F2E68}"/>
              </a:ext>
            </a:extLst>
          </p:cNvPr>
          <p:cNvSpPr txBox="1"/>
          <p:nvPr/>
        </p:nvSpPr>
        <p:spPr>
          <a:xfrm>
            <a:off x="1521598" y="5569545"/>
            <a:ext cx="32399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Usertrapret</a:t>
            </a:r>
            <a:r>
              <a:rPr kumimoji="1" lang="zh-CN" altLang="en-US" dirty="0"/>
              <a:t>函数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/>
              <a:t>恢复</a:t>
            </a:r>
            <a:r>
              <a:rPr kumimoji="1" lang="en-US" altLang="zh-CN" dirty="0" err="1"/>
              <a:t>stvec</a:t>
            </a:r>
            <a:r>
              <a:rPr kumimoji="1" lang="zh-CN" altLang="en-US" dirty="0"/>
              <a:t>、</a:t>
            </a:r>
            <a:r>
              <a:rPr kumimoji="1" lang="en-US" altLang="zh-CN" dirty="0" err="1"/>
              <a:t>sepc</a:t>
            </a:r>
            <a:r>
              <a:rPr kumimoji="1" lang="zh-CN" altLang="en-US" dirty="0"/>
              <a:t>的值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/>
              <a:t>保存内核状态到</a:t>
            </a:r>
            <a:r>
              <a:rPr kumimoji="1" lang="en-US" altLang="zh-CN" dirty="0" err="1"/>
              <a:t>trapframe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0219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DFAEC-6C7F-F3D6-AE06-B08A55B6E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63D387-4765-6EA5-16E8-59212015E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Trap</a:t>
            </a:r>
            <a:r>
              <a:rPr kumimoji="1" lang="zh-CN" altLang="en-US" dirty="0"/>
              <a:t>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C45B9F-9BFD-B9F8-4600-947493CC1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015"/>
            <a:ext cx="10515600" cy="4351338"/>
          </a:xfrm>
        </p:spPr>
        <p:txBody>
          <a:bodyPr/>
          <a:lstStyle/>
          <a:p>
            <a:pPr lvl="1"/>
            <a:r>
              <a:rPr kumimoji="1" lang="zh-CN" altLang="en-US" dirty="0"/>
              <a:t>以系统调用为例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B97BD80-A622-643E-8521-ED3DA32FA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951" y="1995778"/>
            <a:ext cx="5791200" cy="16256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976E299-78E7-9271-2070-8CBB6C3F0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951" y="3812885"/>
            <a:ext cx="53086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98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Lab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traps</a:t>
            </a:r>
            <a:r>
              <a:rPr kumimoji="1" lang="zh-CN" altLang="en-US" dirty="0"/>
              <a:t>：</a:t>
            </a:r>
            <a:r>
              <a:rPr kumimoji="1" lang="en-US" altLang="zh-CN" dirty="0"/>
              <a:t>Task2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5275472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为</a:t>
            </a:r>
            <a:r>
              <a:rPr kumimoji="1" lang="en-US" altLang="zh-CN" dirty="0"/>
              <a:t>xv6</a:t>
            </a:r>
            <a:r>
              <a:rPr kumimoji="1" lang="zh-CN" altLang="en-US" dirty="0"/>
              <a:t>增加定时器功能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增加两个系统调用：</a:t>
            </a:r>
            <a:r>
              <a:rPr kumimoji="1" lang="en-US" altLang="zh-CN" dirty="0" err="1"/>
              <a:t>sigalarm</a:t>
            </a:r>
            <a:r>
              <a:rPr kumimoji="1" lang="zh-CN" altLang="en-US" dirty="0"/>
              <a:t> 和 </a:t>
            </a:r>
            <a:r>
              <a:rPr kumimoji="1" lang="en-US" altLang="zh-CN" dirty="0" err="1"/>
              <a:t>sigreturn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sigalarm</a:t>
            </a:r>
            <a:r>
              <a:rPr kumimoji="1" lang="zh-CN" altLang="en-US" dirty="0"/>
              <a:t> 设置定时器的周期</a:t>
            </a:r>
            <a:r>
              <a:rPr kumimoji="1" lang="en-US" altLang="zh-CN" dirty="0"/>
              <a:t>interval</a:t>
            </a:r>
            <a:r>
              <a:rPr kumimoji="1" lang="zh-CN" altLang="en-US" dirty="0"/>
              <a:t>和回调函数</a:t>
            </a:r>
            <a:r>
              <a:rPr kumimoji="1" lang="en-US" altLang="zh-CN" dirty="0"/>
              <a:t>handler</a:t>
            </a:r>
          </a:p>
          <a:p>
            <a:pPr marL="457200" lvl="1" indent="0">
              <a:buNone/>
            </a:pPr>
            <a:r>
              <a:rPr kumimoji="1" lang="zh-CN" altLang="en-US" dirty="0"/>
              <a:t>                          </a:t>
            </a:r>
            <a:r>
              <a:rPr kumimoji="1" lang="en-US" altLang="zh-CN" dirty="0"/>
              <a:t>( </a:t>
            </a:r>
            <a:r>
              <a:rPr kumimoji="1" lang="en-US" altLang="zh-CN" dirty="0" err="1"/>
              <a:t>sigalarm</a:t>
            </a:r>
            <a:r>
              <a:rPr kumimoji="1" lang="en-US" altLang="zh-CN" dirty="0"/>
              <a:t>(interval, handler)  )</a:t>
            </a:r>
          </a:p>
          <a:p>
            <a:pPr lvl="2"/>
            <a:r>
              <a:rPr kumimoji="1" lang="zh-CN" altLang="en-US" dirty="0"/>
              <a:t>用户态函数</a:t>
            </a:r>
            <a:r>
              <a:rPr kumimoji="1" lang="en-US" altLang="zh-CN" dirty="0" err="1"/>
              <a:t>funcA</a:t>
            </a:r>
            <a:r>
              <a:rPr kumimoji="1" lang="zh-CN" altLang="en-US" dirty="0"/>
              <a:t>调用</a:t>
            </a:r>
            <a:r>
              <a:rPr kumimoji="1" lang="en-US" altLang="zh-CN" dirty="0" err="1"/>
              <a:t>sigalarm</a:t>
            </a:r>
            <a:r>
              <a:rPr kumimoji="1" lang="en-US" altLang="zh-CN" dirty="0"/>
              <a:t>(interval, handler)</a:t>
            </a:r>
          </a:p>
          <a:p>
            <a:pPr lvl="2"/>
            <a:r>
              <a:rPr kumimoji="1" lang="zh-CN" altLang="en-US" dirty="0"/>
              <a:t>每</a:t>
            </a:r>
            <a:r>
              <a:rPr kumimoji="1" lang="en-US" altLang="zh-CN" dirty="0"/>
              <a:t>interval</a:t>
            </a:r>
            <a:r>
              <a:rPr kumimoji="1" lang="zh-CN" altLang="en-US" dirty="0"/>
              <a:t>个时钟周期，调用</a:t>
            </a:r>
            <a:r>
              <a:rPr kumimoji="1" lang="en-US" altLang="zh-CN" dirty="0"/>
              <a:t>handler</a:t>
            </a:r>
            <a:r>
              <a:rPr kumimoji="1" lang="zh-CN" altLang="en-US" dirty="0"/>
              <a:t>一次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Sigreturn</a:t>
            </a:r>
            <a:r>
              <a:rPr kumimoji="1" lang="zh-CN" altLang="en-US" dirty="0"/>
              <a:t> 在回调函数</a:t>
            </a:r>
            <a:r>
              <a:rPr kumimoji="1" lang="en-US" altLang="zh-CN" dirty="0"/>
              <a:t>handler</a:t>
            </a:r>
            <a:r>
              <a:rPr kumimoji="1" lang="zh-CN" altLang="en-US" dirty="0"/>
              <a:t>中调用，恢复被中断的函数状态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Handler</a:t>
            </a:r>
            <a:r>
              <a:rPr kumimoji="1" lang="zh-CN" altLang="en-US" dirty="0"/>
              <a:t>中调用</a:t>
            </a:r>
            <a:r>
              <a:rPr kumimoji="1" lang="en-US" altLang="zh-CN" dirty="0" err="1"/>
              <a:t>Sigreturn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返回函数</a:t>
            </a:r>
            <a:r>
              <a:rPr kumimoji="1" lang="en-US" altLang="zh-CN" dirty="0" err="1"/>
              <a:t>funcA</a:t>
            </a:r>
            <a:endParaRPr kumimoji="1" lang="en-US" altLang="zh-CN" dirty="0"/>
          </a:p>
          <a:p>
            <a:pPr lvl="2"/>
            <a:endParaRPr kumimoji="1" lang="en-US" altLang="zh-CN" dirty="0"/>
          </a:p>
          <a:p>
            <a:r>
              <a:rPr kumimoji="1" lang="en-US" altLang="zh-CN" dirty="0"/>
              <a:t>Finish</a:t>
            </a:r>
            <a:r>
              <a:rPr kumimoji="1" lang="zh-CN" altLang="en-US" dirty="0"/>
              <a:t> </a:t>
            </a:r>
            <a:r>
              <a:rPr kumimoji="1" lang="en-US" altLang="zh-CN" dirty="0"/>
              <a:t>task</a:t>
            </a:r>
            <a:r>
              <a:rPr kumimoji="1" lang="zh-CN" altLang="en-US" dirty="0"/>
              <a:t>：</a:t>
            </a:r>
            <a:r>
              <a:rPr kumimoji="1" lang="en-US" altLang="zh-CN" dirty="0"/>
              <a:t>4 tests in user/</a:t>
            </a:r>
            <a:r>
              <a:rPr kumimoji="1" lang="en-US" altLang="zh-CN" dirty="0" err="1"/>
              <a:t>alarmtest.c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test0:</a:t>
            </a:r>
            <a:r>
              <a:rPr kumimoji="1" lang="zh-CN" altLang="en-US" dirty="0"/>
              <a:t> 实现</a:t>
            </a:r>
            <a:r>
              <a:rPr kumimoji="1" lang="en-US" altLang="zh-CN" dirty="0" err="1"/>
              <a:t>sigalarm</a:t>
            </a:r>
            <a:r>
              <a:rPr kumimoji="1" lang="en-US" altLang="zh-CN" dirty="0"/>
              <a:t>()</a:t>
            </a:r>
            <a:r>
              <a:rPr kumimoji="1" lang="zh-CN" altLang="en-US" dirty="0"/>
              <a:t>，和</a:t>
            </a:r>
            <a:r>
              <a:rPr kumimoji="1" lang="en-US" altLang="zh-CN" dirty="0" err="1"/>
              <a:t>sigreturn</a:t>
            </a:r>
            <a:r>
              <a:rPr kumimoji="1" lang="en-US" altLang="zh-CN" dirty="0"/>
              <a:t>() (</a:t>
            </a:r>
            <a:r>
              <a:rPr kumimoji="1" lang="zh-CN" altLang="en-US" dirty="0"/>
              <a:t>返回</a:t>
            </a:r>
            <a:r>
              <a:rPr kumimoji="1" lang="en-US" altLang="zh-CN" dirty="0"/>
              <a:t>0)</a:t>
            </a:r>
            <a:r>
              <a:rPr kumimoji="1" lang="zh-CN" altLang="en-US" dirty="0"/>
              <a:t>，进入</a:t>
            </a:r>
            <a:r>
              <a:rPr kumimoji="1" lang="en-US" altLang="zh-CN" dirty="0"/>
              <a:t>handler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test1: </a:t>
            </a:r>
            <a:r>
              <a:rPr kumimoji="1" lang="zh-CN" altLang="en-US" dirty="0"/>
              <a:t>实现</a:t>
            </a:r>
            <a:r>
              <a:rPr kumimoji="1" lang="en-US" altLang="zh-CN" dirty="0" err="1"/>
              <a:t>sigreturn</a:t>
            </a:r>
            <a:r>
              <a:rPr kumimoji="1" lang="en-US" altLang="zh-CN" dirty="0"/>
              <a:t>()</a:t>
            </a:r>
            <a:r>
              <a:rPr kumimoji="1" lang="zh-CN" altLang="en-US" dirty="0"/>
              <a:t>，在回调函数执行完成后恢复被中断的函数状态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test3: handler</a:t>
            </a:r>
            <a:r>
              <a:rPr kumimoji="1" lang="zh-CN" altLang="en-US" dirty="0"/>
              <a:t>运行中，若又过了</a:t>
            </a:r>
            <a:r>
              <a:rPr kumimoji="1" lang="en-US" altLang="zh-CN" dirty="0"/>
              <a:t>interval</a:t>
            </a:r>
            <a:r>
              <a:rPr kumimoji="1" lang="zh-CN" altLang="en-US" dirty="0"/>
              <a:t>个时钟周期，不重复调用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test4:</a:t>
            </a:r>
            <a:r>
              <a:rPr kumimoji="1" lang="zh-CN" altLang="en-US" dirty="0"/>
              <a:t> 恢复原函数</a:t>
            </a:r>
            <a:r>
              <a:rPr kumimoji="1" lang="en-US" altLang="zh-CN" dirty="0" err="1"/>
              <a:t>funcA</a:t>
            </a:r>
            <a:r>
              <a:rPr kumimoji="1" lang="zh-CN" altLang="en-US" dirty="0"/>
              <a:t>的返回值</a:t>
            </a:r>
            <a:endParaRPr kumimoji="1" lang="en-US" altLang="zh-CN" dirty="0"/>
          </a:p>
          <a:p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Step 1: </a:t>
            </a:r>
            <a:r>
              <a:rPr kumimoji="1" lang="zh-CN" altLang="en-US" dirty="0"/>
              <a:t>实现</a:t>
            </a:r>
            <a:r>
              <a:rPr kumimoji="1" lang="en-US" altLang="zh-CN" dirty="0" err="1"/>
              <a:t>sigalarm</a:t>
            </a:r>
            <a:r>
              <a:rPr kumimoji="1" lang="en-US" altLang="zh-CN" dirty="0"/>
              <a:t>(interval, handler)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59864"/>
            <a:ext cx="10515600" cy="5126131"/>
          </a:xfrm>
        </p:spPr>
        <p:txBody>
          <a:bodyPr>
            <a:normAutofit/>
          </a:bodyPr>
          <a:lstStyle/>
          <a:p>
            <a:r>
              <a:rPr kumimoji="1" lang="zh-CN" altLang="en-US" sz="1800" dirty="0">
                <a:latin typeface="+mn-ea"/>
              </a:rPr>
              <a:t>注册系统调用</a:t>
            </a:r>
            <a:endParaRPr kumimoji="1" lang="en-US" altLang="zh-CN" sz="1800" dirty="0">
              <a:latin typeface="+mn-ea"/>
            </a:endParaRPr>
          </a:p>
          <a:p>
            <a:pPr lvl="1"/>
            <a:r>
              <a:rPr kumimoji="1" lang="zh-CN" altLang="en-US" sz="1800" dirty="0">
                <a:latin typeface="+mn-ea"/>
              </a:rPr>
              <a:t>用户态、内核态</a:t>
            </a:r>
            <a:endParaRPr kumimoji="1" lang="en-US" altLang="zh-CN" sz="1800" dirty="0">
              <a:latin typeface="+mn-ea"/>
            </a:endParaRPr>
          </a:p>
          <a:p>
            <a:r>
              <a:rPr lang="zh-CN" altLang="en-US" sz="1800" dirty="0">
                <a:latin typeface="+mn-ea"/>
              </a:rPr>
              <a:t>你的</a:t>
            </a:r>
            <a:r>
              <a:rPr lang="en" altLang="zh-CN" sz="1800" dirty="0" err="1">
                <a:latin typeface="+mn-ea"/>
              </a:rPr>
              <a:t>sys_sigalarm</a:t>
            </a:r>
            <a:r>
              <a:rPr lang="en" altLang="zh-CN" sz="1800" dirty="0">
                <a:latin typeface="+mn-ea"/>
              </a:rPr>
              <a:t>()</a:t>
            </a:r>
            <a:r>
              <a:rPr lang="zh-CN" altLang="en-US" sz="1800" dirty="0">
                <a:latin typeface="+mn-ea"/>
              </a:rPr>
              <a:t>应该将报警间隔</a:t>
            </a:r>
            <a:r>
              <a:rPr lang="en-US" altLang="zh-CN" sz="1800" dirty="0">
                <a:latin typeface="+mn-ea"/>
              </a:rPr>
              <a:t>interval</a:t>
            </a:r>
            <a:r>
              <a:rPr lang="zh-CN" altLang="en-US" sz="1800" dirty="0">
                <a:latin typeface="+mn-ea"/>
              </a:rPr>
              <a:t>和指向处理程序函数的指针</a:t>
            </a:r>
            <a:r>
              <a:rPr lang="en-US" altLang="zh-CN" sz="1800" dirty="0">
                <a:latin typeface="+mn-ea"/>
              </a:rPr>
              <a:t>handler</a:t>
            </a:r>
            <a:r>
              <a:rPr lang="zh-CN" altLang="en-US" sz="1800" dirty="0">
                <a:latin typeface="+mn-ea"/>
              </a:rPr>
              <a:t>存储在</a:t>
            </a:r>
            <a:r>
              <a:rPr lang="en" altLang="zh-CN" sz="1800" dirty="0">
                <a:latin typeface="+mn-ea"/>
              </a:rPr>
              <a:t>struct proc</a:t>
            </a:r>
            <a:r>
              <a:rPr lang="zh-CN" altLang="en-US" sz="1800" dirty="0">
                <a:latin typeface="+mn-ea"/>
              </a:rPr>
              <a:t>的新字段中（位于</a:t>
            </a:r>
            <a:r>
              <a:rPr lang="en" altLang="zh-CN" sz="1800" dirty="0">
                <a:latin typeface="+mn-ea"/>
              </a:rPr>
              <a:t>kernel/</a:t>
            </a:r>
            <a:r>
              <a:rPr lang="en" altLang="zh-CN" sz="1800" dirty="0" err="1">
                <a:latin typeface="+mn-ea"/>
              </a:rPr>
              <a:t>proc.h</a:t>
            </a:r>
            <a:r>
              <a:rPr lang="zh-CN" altLang="en" sz="1800" dirty="0">
                <a:latin typeface="+mn-ea"/>
              </a:rPr>
              <a:t>）。</a:t>
            </a:r>
            <a:endParaRPr kumimoji="1" lang="en-US" altLang="zh-CN" sz="1800" dirty="0">
              <a:latin typeface="+mn-ea"/>
            </a:endParaRPr>
          </a:p>
          <a:p>
            <a:r>
              <a:rPr lang="zh-CN" altLang="en-US" sz="1800" dirty="0">
                <a:latin typeface="+mn-ea"/>
              </a:rPr>
              <a:t>你也需要在</a:t>
            </a:r>
            <a:r>
              <a:rPr lang="en" altLang="zh-CN" sz="1800" dirty="0">
                <a:latin typeface="+mn-ea"/>
              </a:rPr>
              <a:t>struct proc</a:t>
            </a:r>
            <a:r>
              <a:rPr lang="zh-CN" altLang="en-US" sz="1800" dirty="0">
                <a:latin typeface="+mn-ea"/>
              </a:rPr>
              <a:t>新增一个新字段。用于跟踪自上一次调用（或直到下一次调用）到进程的报警处理程序间经历了多少滴答；可以在</a:t>
            </a:r>
            <a:r>
              <a:rPr lang="en" altLang="zh-CN" sz="1800" dirty="0" err="1">
                <a:latin typeface="+mn-ea"/>
              </a:rPr>
              <a:t>proc.c</a:t>
            </a:r>
            <a:r>
              <a:rPr lang="zh-CN" altLang="en-US" sz="1800" dirty="0">
                <a:latin typeface="+mn-ea"/>
              </a:rPr>
              <a:t>的</a:t>
            </a:r>
            <a:r>
              <a:rPr lang="en" altLang="zh-CN" sz="1800" dirty="0" err="1">
                <a:latin typeface="+mn-ea"/>
              </a:rPr>
              <a:t>allocproc</a:t>
            </a:r>
            <a:r>
              <a:rPr lang="en" altLang="zh-CN" sz="1800" dirty="0">
                <a:latin typeface="+mn-ea"/>
              </a:rPr>
              <a:t>()</a:t>
            </a:r>
            <a:r>
              <a:rPr lang="zh-CN" altLang="en-US" sz="1800" dirty="0">
                <a:latin typeface="+mn-ea"/>
              </a:rPr>
              <a:t>中初始化</a:t>
            </a:r>
            <a:r>
              <a:rPr lang="en" altLang="zh-CN" sz="1800" dirty="0">
                <a:latin typeface="+mn-ea"/>
              </a:rPr>
              <a:t>proc</a:t>
            </a:r>
            <a:r>
              <a:rPr lang="zh-CN" altLang="en-US" sz="1800" dirty="0">
                <a:latin typeface="+mn-ea"/>
              </a:rPr>
              <a:t>字段。</a:t>
            </a:r>
          </a:p>
          <a:p>
            <a:r>
              <a:rPr lang="zh-CN" altLang="en-US" sz="1800" dirty="0">
                <a:latin typeface="+mn-ea"/>
              </a:rPr>
              <a:t>每过一个时钟周期，硬件时钟就会强制一个中断，这个中断在</a:t>
            </a:r>
            <a:r>
              <a:rPr lang="en" altLang="zh-CN" sz="1800" dirty="0">
                <a:latin typeface="+mn-ea"/>
              </a:rPr>
              <a:t>kernel/</a:t>
            </a:r>
            <a:r>
              <a:rPr lang="en" altLang="zh-CN" sz="1800" dirty="0" err="1">
                <a:latin typeface="+mn-ea"/>
              </a:rPr>
              <a:t>trap.c</a:t>
            </a:r>
            <a:r>
              <a:rPr lang="zh-CN" altLang="en-US" sz="1800" dirty="0">
                <a:latin typeface="+mn-ea"/>
              </a:rPr>
              <a:t>中的</a:t>
            </a:r>
            <a:r>
              <a:rPr lang="en" altLang="zh-CN" sz="1800" dirty="0" err="1">
                <a:latin typeface="+mn-ea"/>
              </a:rPr>
              <a:t>usertrap</a:t>
            </a:r>
            <a:r>
              <a:rPr lang="en" altLang="zh-CN" sz="1800" dirty="0">
                <a:latin typeface="+mn-ea"/>
              </a:rPr>
              <a:t>()</a:t>
            </a:r>
            <a:r>
              <a:rPr lang="zh-CN" altLang="en-US" sz="1800" dirty="0">
                <a:latin typeface="+mn-ea"/>
              </a:rPr>
              <a:t>中处理。</a:t>
            </a:r>
            <a:r>
              <a:rPr kumimoji="1" lang="zh-CN" altLang="en-US" sz="1800" dirty="0">
                <a:latin typeface="+mn-ea"/>
              </a:rPr>
              <a:t>时钟中断的处理具体是在</a:t>
            </a:r>
            <a:r>
              <a:rPr kumimoji="1" lang="en-US" altLang="zh-CN" sz="1800" dirty="0" err="1">
                <a:latin typeface="+mn-ea"/>
              </a:rPr>
              <a:t>usertrap</a:t>
            </a:r>
            <a:r>
              <a:rPr kumimoji="1" lang="zh-CN" altLang="en-US" sz="1800" dirty="0">
                <a:latin typeface="+mn-ea"/>
              </a:rPr>
              <a:t>中</a:t>
            </a:r>
            <a:r>
              <a:rPr kumimoji="1" lang="en-US" altLang="zh-CN" sz="1800" dirty="0">
                <a:latin typeface="+mn-ea"/>
              </a:rPr>
              <a:t> </a:t>
            </a:r>
            <a:r>
              <a:rPr kumimoji="1" lang="en-GB" altLang="zh-CN" sz="1800" dirty="0">
                <a:latin typeface="+mn-ea"/>
              </a:rPr>
              <a:t>if (</a:t>
            </a:r>
            <a:r>
              <a:rPr kumimoji="1" lang="en-GB" altLang="zh-CN" sz="1800" dirty="0" err="1">
                <a:latin typeface="+mn-ea"/>
              </a:rPr>
              <a:t>which_dev</a:t>
            </a:r>
            <a:r>
              <a:rPr kumimoji="1" lang="en-GB" altLang="zh-CN" sz="1800" dirty="0">
                <a:latin typeface="+mn-ea"/>
              </a:rPr>
              <a:t> == 2) </a:t>
            </a:r>
            <a:r>
              <a:rPr kumimoji="1" lang="zh-CN" altLang="en-US" sz="1800" dirty="0">
                <a:latin typeface="+mn-ea"/>
              </a:rPr>
              <a:t>分支</a:t>
            </a:r>
            <a:endParaRPr kumimoji="1" lang="en-US" altLang="zh-CN" sz="1800" dirty="0">
              <a:latin typeface="+mn-ea"/>
            </a:endParaRPr>
          </a:p>
          <a:p>
            <a:r>
              <a:rPr kumimoji="1" lang="zh-CN" altLang="en-US" sz="1800" dirty="0">
                <a:latin typeface="+mn-ea"/>
              </a:rPr>
              <a:t>需要修改</a:t>
            </a:r>
            <a:r>
              <a:rPr kumimoji="1" lang="en" altLang="zh-CN" sz="1800" dirty="0" err="1">
                <a:latin typeface="+mn-ea"/>
              </a:rPr>
              <a:t>usertrap</a:t>
            </a:r>
            <a:r>
              <a:rPr kumimoji="1" lang="en" altLang="zh-CN" sz="1800" dirty="0">
                <a:latin typeface="+mn-ea"/>
              </a:rPr>
              <a:t>()</a:t>
            </a:r>
            <a:r>
              <a:rPr kumimoji="1" lang="zh-CN" altLang="en" sz="1800" dirty="0">
                <a:latin typeface="+mn-ea"/>
              </a:rPr>
              <a:t>，</a:t>
            </a:r>
            <a:r>
              <a:rPr kumimoji="1" lang="zh-CN" altLang="en-US" sz="1800" dirty="0">
                <a:latin typeface="+mn-ea"/>
              </a:rPr>
              <a:t>以便当进程的报警间隔期满时，用户进程执行</a:t>
            </a:r>
            <a:r>
              <a:rPr kumimoji="1" lang="en-US" altLang="zh-CN" sz="1800" dirty="0">
                <a:latin typeface="+mn-ea"/>
              </a:rPr>
              <a:t>handler</a:t>
            </a:r>
            <a:r>
              <a:rPr kumimoji="1" lang="zh-CN" altLang="en-US" sz="1800" dirty="0">
                <a:latin typeface="+mn-ea"/>
              </a:rPr>
              <a:t>函数。</a:t>
            </a:r>
            <a:endParaRPr kumimoji="1" lang="en-US" altLang="zh-CN" sz="1800" dirty="0">
              <a:latin typeface="+mn-ea"/>
            </a:endParaRPr>
          </a:p>
          <a:p>
            <a:pPr lvl="1"/>
            <a:r>
              <a:rPr kumimoji="1" lang="zh-CN" altLang="en-US" sz="1800" dirty="0">
                <a:latin typeface="+mn-ea"/>
              </a:rPr>
              <a:t>如何返回到用户态的</a:t>
            </a:r>
            <a:r>
              <a:rPr kumimoji="1" lang="en-US" altLang="zh-CN" sz="1800" dirty="0">
                <a:latin typeface="+mn-ea"/>
              </a:rPr>
              <a:t>handler</a:t>
            </a:r>
            <a:r>
              <a:rPr kumimoji="1" lang="zh-CN" altLang="en-US" sz="1800" dirty="0">
                <a:latin typeface="+mn-ea"/>
              </a:rPr>
              <a:t>？（返回到用户态的地址在哪？）</a:t>
            </a:r>
            <a:endParaRPr kumimoji="1" lang="en-US" altLang="zh-CN" sz="1800" dirty="0">
              <a:latin typeface="+mn-ea"/>
            </a:endParaRPr>
          </a:p>
          <a:p>
            <a:r>
              <a:rPr kumimoji="1" lang="en-US" altLang="zh-CN" sz="1800" dirty="0">
                <a:latin typeface="+mn-ea"/>
              </a:rPr>
              <a:t>make CPUS=1 </a:t>
            </a:r>
            <a:r>
              <a:rPr kumimoji="1" lang="en-US" altLang="zh-CN" sz="1800" dirty="0" err="1">
                <a:latin typeface="+mn-ea"/>
              </a:rPr>
              <a:t>qemu-gdb</a:t>
            </a:r>
            <a:r>
              <a:rPr kumimoji="1" lang="zh-CN" altLang="en-US" sz="1800" dirty="0">
                <a:latin typeface="+mn-ea"/>
              </a:rPr>
              <a:t>：指定单核，便于调试</a:t>
            </a:r>
            <a:endParaRPr kumimoji="1" lang="en-US" altLang="zh-CN" sz="1800" dirty="0">
              <a:latin typeface="+mn-ea"/>
            </a:endParaRPr>
          </a:p>
          <a:p>
            <a:endParaRPr kumimoji="1" lang="en-US" altLang="zh-CN" sz="1800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Step 2: </a:t>
            </a:r>
            <a:r>
              <a:rPr kumimoji="1" lang="zh-CN" altLang="en-US" dirty="0"/>
              <a:t>实现</a:t>
            </a:r>
            <a:r>
              <a:rPr kumimoji="1" lang="en-US" altLang="zh-CN" dirty="0" err="1"/>
              <a:t>sigreturn</a:t>
            </a:r>
            <a:r>
              <a:rPr kumimoji="1" lang="en-US" altLang="zh-CN" dirty="0"/>
              <a:t>()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4351338"/>
          </a:xfrm>
        </p:spPr>
        <p:txBody>
          <a:bodyPr>
            <a:normAutofit/>
          </a:bodyPr>
          <a:lstStyle/>
          <a:p>
            <a:r>
              <a:rPr kumimoji="1" lang="en-US" altLang="zh-CN" sz="1800" dirty="0">
                <a:latin typeface="+mn-ea"/>
              </a:rPr>
              <a:t>handler</a:t>
            </a:r>
            <a:r>
              <a:rPr kumimoji="1" lang="zh-CN" altLang="en-US" sz="1800" dirty="0">
                <a:latin typeface="+mn-ea"/>
              </a:rPr>
              <a:t>函数结束后会调用</a:t>
            </a:r>
            <a:r>
              <a:rPr kumimoji="1" lang="en-US" altLang="zh-CN" sz="1800" dirty="0" err="1">
                <a:latin typeface="+mn-ea"/>
              </a:rPr>
              <a:t>sigreturn</a:t>
            </a:r>
            <a:r>
              <a:rPr kumimoji="1" lang="en-US" altLang="zh-CN" sz="1800" dirty="0">
                <a:latin typeface="+mn-ea"/>
              </a:rPr>
              <a:t>()</a:t>
            </a:r>
            <a:r>
              <a:rPr kumimoji="1" lang="zh-CN" altLang="en-US" sz="1800" dirty="0">
                <a:latin typeface="+mn-ea"/>
              </a:rPr>
              <a:t>，返回到被中断函数</a:t>
            </a:r>
            <a:r>
              <a:rPr kumimoji="1" lang="en-US" altLang="zh-CN" sz="1800" dirty="0" err="1">
                <a:latin typeface="+mn-ea"/>
              </a:rPr>
              <a:t>funcA</a:t>
            </a:r>
            <a:endParaRPr kumimoji="1" lang="en-US" altLang="zh-CN" sz="1800" dirty="0">
              <a:latin typeface="+mn-ea"/>
            </a:endParaRPr>
          </a:p>
          <a:p>
            <a:pPr lvl="1"/>
            <a:r>
              <a:rPr kumimoji="1" lang="en-US" altLang="zh-CN" sz="1800" dirty="0">
                <a:latin typeface="+mn-ea"/>
              </a:rPr>
              <a:t>user(</a:t>
            </a:r>
            <a:r>
              <a:rPr kumimoji="1" lang="en-US" altLang="zh-CN" sz="1800" dirty="0" err="1">
                <a:latin typeface="+mn-ea"/>
              </a:rPr>
              <a:t>funcA</a:t>
            </a:r>
            <a:r>
              <a:rPr kumimoji="1" lang="en-US" altLang="zh-CN" sz="1800" dirty="0">
                <a:latin typeface="+mn-ea"/>
              </a:rPr>
              <a:t>)-&gt;kernel-&gt;user(handler)-&gt;kernel-&gt;user(</a:t>
            </a:r>
            <a:r>
              <a:rPr kumimoji="1" lang="en-US" altLang="zh-CN" sz="1800" dirty="0" err="1">
                <a:latin typeface="+mn-ea"/>
              </a:rPr>
              <a:t>funcA</a:t>
            </a:r>
            <a:r>
              <a:rPr kumimoji="1" lang="en-US" altLang="zh-CN" sz="1800" dirty="0">
                <a:latin typeface="+mn-ea"/>
              </a:rPr>
              <a:t>)</a:t>
            </a:r>
          </a:p>
          <a:p>
            <a:r>
              <a:rPr kumimoji="1" lang="zh-CN" altLang="en-US" sz="1800" dirty="0">
                <a:latin typeface="+mn-ea"/>
              </a:rPr>
              <a:t>如何保存被中断函数</a:t>
            </a:r>
            <a:r>
              <a:rPr kumimoji="1" lang="en-US" altLang="zh-CN" sz="1800" dirty="0" err="1">
                <a:latin typeface="+mn-ea"/>
              </a:rPr>
              <a:t>funcA</a:t>
            </a:r>
            <a:r>
              <a:rPr kumimoji="1" lang="zh-CN" altLang="en-US" sz="1800" dirty="0">
                <a:latin typeface="+mn-ea"/>
              </a:rPr>
              <a:t>的上下文？（</a:t>
            </a:r>
            <a:r>
              <a:rPr kumimoji="1" lang="en-US" altLang="zh-CN" sz="1800" dirty="0">
                <a:latin typeface="+mn-ea"/>
              </a:rPr>
              <a:t>struct</a:t>
            </a:r>
            <a:r>
              <a:rPr kumimoji="1" lang="zh-CN" altLang="en-US" sz="1800" dirty="0">
                <a:latin typeface="+mn-ea"/>
              </a:rPr>
              <a:t> </a:t>
            </a:r>
            <a:r>
              <a:rPr kumimoji="1" lang="en-US" altLang="zh-CN" sz="1800" dirty="0">
                <a:latin typeface="+mn-ea"/>
              </a:rPr>
              <a:t>proc</a:t>
            </a:r>
            <a:r>
              <a:rPr kumimoji="1" lang="zh-CN" altLang="en-US" sz="1800" dirty="0">
                <a:latin typeface="+mn-ea"/>
              </a:rPr>
              <a:t>）</a:t>
            </a:r>
            <a:r>
              <a:rPr kumimoji="1" lang="en-US" altLang="zh-CN" sz="1800" dirty="0">
                <a:latin typeface="+mn-ea"/>
              </a:rPr>
              <a:t>	</a:t>
            </a:r>
          </a:p>
          <a:p>
            <a:r>
              <a:rPr lang="zh-CN" altLang="en-US" sz="1800" dirty="0">
                <a:latin typeface="+mn-ea"/>
              </a:rPr>
              <a:t>防止对</a:t>
            </a:r>
            <a:r>
              <a:rPr lang="en-US" altLang="zh-CN" sz="1800" dirty="0">
                <a:latin typeface="+mn-ea"/>
              </a:rPr>
              <a:t>handler</a:t>
            </a:r>
            <a:r>
              <a:rPr lang="zh-CN" altLang="en-US" sz="1800" dirty="0">
                <a:latin typeface="+mn-ea"/>
              </a:rPr>
              <a:t>程序的重复调用</a:t>
            </a:r>
            <a:r>
              <a:rPr lang="en-US" altLang="zh-CN" sz="1800" dirty="0">
                <a:latin typeface="+mn-ea"/>
              </a:rPr>
              <a:t>——</a:t>
            </a:r>
            <a:r>
              <a:rPr lang="zh-CN" altLang="en-US" sz="1800" dirty="0">
                <a:latin typeface="+mn-ea"/>
              </a:rPr>
              <a:t>如果正在执行</a:t>
            </a:r>
            <a:r>
              <a:rPr lang="en-US" altLang="zh-CN" sz="1800" dirty="0">
                <a:latin typeface="+mn-ea"/>
              </a:rPr>
              <a:t>handler</a:t>
            </a:r>
            <a:r>
              <a:rPr lang="zh-CN" altLang="en-US" sz="1800" dirty="0">
                <a:latin typeface="+mn-ea"/>
              </a:rPr>
              <a:t>程序，即使到了</a:t>
            </a:r>
            <a:r>
              <a:rPr lang="en-US" altLang="zh-CN" sz="1800" dirty="0">
                <a:latin typeface="+mn-ea"/>
              </a:rPr>
              <a:t>interval</a:t>
            </a:r>
            <a:r>
              <a:rPr lang="zh-CN" altLang="en-US" sz="1800" dirty="0">
                <a:latin typeface="+mn-ea"/>
              </a:rPr>
              <a:t>的时间，内核也不应该再次调用它。</a:t>
            </a:r>
            <a:r>
              <a:rPr kumimoji="1" lang="zh-CN" altLang="en-US" sz="1800" dirty="0">
                <a:latin typeface="+mn-ea"/>
              </a:rPr>
              <a:t>（</a:t>
            </a:r>
            <a:r>
              <a:rPr kumimoji="1" lang="en-US" altLang="zh-CN" sz="1800" dirty="0">
                <a:latin typeface="+mn-ea"/>
              </a:rPr>
              <a:t>e.g. </a:t>
            </a:r>
            <a:r>
              <a:rPr kumimoji="1" lang="zh-CN" altLang="en-US" sz="1800" dirty="0">
                <a:latin typeface="+mn-ea"/>
              </a:rPr>
              <a:t>标记</a:t>
            </a:r>
            <a:r>
              <a:rPr lang="en" altLang="zh-CN" sz="1800" dirty="0" err="1">
                <a:latin typeface="+mn-ea"/>
              </a:rPr>
              <a:t>handler_executing</a:t>
            </a:r>
            <a:r>
              <a:rPr kumimoji="1" lang="en-US" altLang="zh-CN" sz="1800" dirty="0">
                <a:latin typeface="+mn-ea"/>
              </a:rPr>
              <a:t>)</a:t>
            </a:r>
          </a:p>
          <a:p>
            <a:r>
              <a:rPr kumimoji="1" lang="zh-CN" altLang="en-US" sz="1800" dirty="0">
                <a:latin typeface="+mn-ea"/>
              </a:rPr>
              <a:t>不要忘记恢复</a:t>
            </a:r>
            <a:r>
              <a:rPr kumimoji="1" lang="en-US" altLang="zh-CN" sz="1800" dirty="0" err="1">
                <a:latin typeface="+mn-ea"/>
              </a:rPr>
              <a:t>funcA</a:t>
            </a:r>
            <a:r>
              <a:rPr kumimoji="1" lang="zh-CN" altLang="en-US" sz="1800" dirty="0">
                <a:latin typeface="+mn-ea"/>
              </a:rPr>
              <a:t>返回值 （</a:t>
            </a:r>
            <a:r>
              <a:rPr kumimoji="1" lang="en-US" altLang="zh-CN" sz="1800" dirty="0">
                <a:latin typeface="+mn-ea"/>
              </a:rPr>
              <a:t>a0</a:t>
            </a:r>
            <a:r>
              <a:rPr kumimoji="1" lang="zh-CN" altLang="en-US" sz="1800" dirty="0">
                <a:latin typeface="+mn-ea"/>
              </a:rPr>
              <a:t>）</a:t>
            </a:r>
            <a:endParaRPr kumimoji="1" lang="en-US" altLang="zh-CN" sz="1800" dirty="0">
              <a:latin typeface="+mn-ea"/>
            </a:endParaRPr>
          </a:p>
          <a:p>
            <a:pPr marL="0" indent="0">
              <a:buNone/>
            </a:pPr>
            <a:endParaRPr kumimoji="1" lang="en-US" altLang="zh-C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Optional Challenge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CN" b="0" i="0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Print the names of the functions and line numbers in </a:t>
            </a:r>
            <a:r>
              <a:rPr lang="en-GB" altLang="zh-CN" dirty="0" err="1"/>
              <a:t>backtrace</a:t>
            </a:r>
            <a:r>
              <a:rPr lang="en-GB" altLang="zh-CN" dirty="0"/>
              <a:t>()</a:t>
            </a:r>
            <a:r>
              <a:rPr lang="en-GB" altLang="zh-CN" b="0" i="0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 instead of numerical addresses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Lab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2967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/>
              <a:t>lab-traps-</a:t>
            </a:r>
            <a:r>
              <a:rPr kumimoji="1" lang="en-US" altLang="zh-CN" dirty="0" err="1"/>
              <a:t>report.txt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描述一下自己做</a:t>
            </a:r>
            <a:r>
              <a:rPr kumimoji="1" lang="en-US" altLang="zh-CN" dirty="0"/>
              <a:t>lab</a:t>
            </a:r>
            <a:r>
              <a:rPr kumimoji="1" lang="zh-CN" altLang="en-US" dirty="0"/>
              <a:t>的时候遇到的问题以及解决方法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或者一些帮助自己写</a:t>
            </a:r>
            <a:r>
              <a:rPr kumimoji="1" lang="en-US" altLang="zh-CN" dirty="0"/>
              <a:t>lab</a:t>
            </a:r>
            <a:r>
              <a:rPr kumimoji="1" lang="zh-CN" altLang="en-US" dirty="0"/>
              <a:t>的小技巧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中英皆可</a:t>
            </a:r>
            <a:endParaRPr kumimoji="1" lang="en-US" altLang="zh-CN" dirty="0"/>
          </a:p>
          <a:p>
            <a:r>
              <a:rPr kumimoji="1" lang="zh-CN" altLang="en-US" dirty="0"/>
              <a:t>更详细的介绍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MIT xv6 Book Chapter 4(canvas)</a:t>
            </a:r>
          </a:p>
          <a:p>
            <a:pPr lvl="1"/>
            <a:r>
              <a:rPr lang="en" altLang="zh-CN" dirty="0" err="1"/>
              <a:t>gdb_slides.pdf</a:t>
            </a:r>
            <a:r>
              <a:rPr lang="en" altLang="zh-CN" dirty="0"/>
              <a:t> (canvas)</a:t>
            </a:r>
          </a:p>
          <a:p>
            <a:pPr lvl="1"/>
            <a:r>
              <a:rPr kumimoji="1" lang="en" altLang="zh-CN" dirty="0"/>
              <a:t>Lab</a:t>
            </a:r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traps.pdf</a:t>
            </a:r>
            <a:r>
              <a:rPr kumimoji="1" lang="en-US" altLang="zh-CN" dirty="0"/>
              <a:t>(canvas)</a:t>
            </a:r>
          </a:p>
          <a:p>
            <a:pPr lvl="1"/>
            <a:r>
              <a:rPr kumimoji="1" lang="en-US" altLang="zh-CN" dirty="0"/>
              <a:t>MIT 6.1810 </a:t>
            </a:r>
            <a:r>
              <a:rPr kumimoji="1" lang="zh-CN" altLang="en-US" dirty="0"/>
              <a:t>课程笔记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https://</a:t>
            </a:r>
            <a:r>
              <a:rPr kumimoji="1" lang="en-US" altLang="zh-CN" dirty="0" err="1"/>
              <a:t>mit</a:t>
            </a:r>
            <a:r>
              <a:rPr kumimoji="1" lang="en-US" altLang="zh-CN" dirty="0"/>
              <a:t>-public-courses-</a:t>
            </a:r>
            <a:r>
              <a:rPr kumimoji="1" lang="en-US" altLang="zh-CN" dirty="0" err="1"/>
              <a:t>cn</a:t>
            </a:r>
            <a:r>
              <a:rPr kumimoji="1" lang="en-US" altLang="zh-CN" dirty="0"/>
              <a:t>-</a:t>
            </a:r>
            <a:r>
              <a:rPr kumimoji="1" lang="en-US" altLang="zh-CN" dirty="0" err="1"/>
              <a:t>translatio.gitbook.io</a:t>
            </a:r>
            <a:r>
              <a:rPr kumimoji="1" lang="en-US" altLang="zh-CN" dirty="0"/>
              <a:t>/mit6-s081/lec06-isolation-and-system-call-entry-exit-robert/6.5-uservec</a:t>
            </a:r>
          </a:p>
          <a:p>
            <a:r>
              <a:rPr kumimoji="1" lang="zh-CN" altLang="en-US" dirty="0"/>
              <a:t>提交</a:t>
            </a:r>
            <a:endParaRPr kumimoji="1" lang="en-US" altLang="zh-CN" dirty="0"/>
          </a:p>
          <a:p>
            <a:pPr lvl="1"/>
            <a:r>
              <a:rPr kumimoji="1" lang="zh-CN" altLang="en-US" dirty="0">
                <a:ea typeface="Sarasa Mono SC" panose="02000509000000000000" pitchFamily="49" charset="-122"/>
              </a:rPr>
              <a:t>见</a:t>
            </a:r>
            <a:r>
              <a:rPr kumimoji="1" lang="en-US" altLang="zh-CN" dirty="0">
                <a:ea typeface="Sarasa Mono SC" panose="02000509000000000000" pitchFamily="49" charset="-122"/>
              </a:rPr>
              <a:t>lab</a:t>
            </a:r>
            <a:r>
              <a:rPr kumimoji="1" lang="zh-CN" altLang="en-US" dirty="0">
                <a:ea typeface="Sarasa Mono SC" panose="02000509000000000000" pitchFamily="49" charset="-122"/>
              </a:rPr>
              <a:t>文档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评分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评分由以下几部分构成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基本测试通过（</a:t>
            </a:r>
            <a:r>
              <a:rPr kumimoji="1" lang="en-US" altLang="zh-CN" dirty="0"/>
              <a:t>make</a:t>
            </a:r>
            <a:r>
              <a:rPr kumimoji="1" lang="zh-CN" altLang="en-US" dirty="0"/>
              <a:t> </a:t>
            </a:r>
            <a:r>
              <a:rPr kumimoji="1" lang="en-US" altLang="zh-CN" dirty="0"/>
              <a:t>grade</a:t>
            </a:r>
            <a:r>
              <a:rPr kumimoji="1" lang="zh-CN" altLang="en-US" dirty="0"/>
              <a:t> 通过测试）</a:t>
            </a:r>
            <a:r>
              <a:rPr kumimoji="1" lang="en-US" altLang="zh-CN" dirty="0"/>
              <a:t>2</a:t>
            </a:r>
            <a:r>
              <a:rPr kumimoji="1" lang="zh-CN" altLang="en-US" dirty="0"/>
              <a:t>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代码逻辑功能正确 </a:t>
            </a:r>
            <a:r>
              <a:rPr kumimoji="1" lang="en-US" altLang="zh-CN" dirty="0"/>
              <a:t>2</a:t>
            </a:r>
            <a:r>
              <a:rPr kumimoji="1" lang="zh-CN" altLang="en-US" dirty="0"/>
              <a:t>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报告 </a:t>
            </a:r>
            <a:r>
              <a:rPr kumimoji="1" lang="en-US" altLang="zh-CN" dirty="0"/>
              <a:t>5</a:t>
            </a:r>
            <a:r>
              <a:rPr kumimoji="1" lang="zh-CN" altLang="en-US" dirty="0"/>
              <a:t>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注释和代码可读性 </a:t>
            </a:r>
            <a:r>
              <a:rPr kumimoji="1" lang="en-US" altLang="zh-CN" dirty="0"/>
              <a:t>1</a:t>
            </a:r>
            <a:r>
              <a:rPr kumimoji="1" lang="zh-CN" altLang="en-US" dirty="0"/>
              <a:t>分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Q&amp;A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任何问题？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END</a:t>
            </a:r>
            <a:endParaRPr lang="zh-CN" altLang="en-US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1243</TotalTime>
  <Words>3368</Words>
  <Application>Microsoft Macintosh PowerPoint</Application>
  <PresentationFormat>宽屏</PresentationFormat>
  <Paragraphs>252</Paragraphs>
  <Slides>28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.AppleSystemUIFont</vt:lpstr>
      <vt:lpstr>等线</vt:lpstr>
      <vt:lpstr>等线 Light</vt:lpstr>
      <vt:lpstr>Arial Unicode MS</vt:lpstr>
      <vt:lpstr>PingFang SC</vt:lpstr>
      <vt:lpstr>Sarasa Mono SC</vt:lpstr>
      <vt:lpstr>UICTFontTextStyleBody</vt:lpstr>
      <vt:lpstr>Arial</vt:lpstr>
      <vt:lpstr>Roboto</vt:lpstr>
      <vt:lpstr>Office 主题​​</vt:lpstr>
      <vt:lpstr>Lab Traps</vt:lpstr>
      <vt:lpstr>PowerPoint 演示文稿</vt:lpstr>
      <vt:lpstr>PowerPoint 演示文稿</vt:lpstr>
      <vt:lpstr>Backtrace-栈帧</vt:lpstr>
      <vt:lpstr>Backtrace</vt:lpstr>
      <vt:lpstr>Backtrace</vt:lpstr>
      <vt:lpstr>PowerPoint 演示文稿</vt:lpstr>
      <vt:lpstr>Trap</vt:lpstr>
      <vt:lpstr>Trap过程</vt:lpstr>
      <vt:lpstr>Trap过程</vt:lpstr>
      <vt:lpstr>Trap过程</vt:lpstr>
      <vt:lpstr>Trap过程</vt:lpstr>
      <vt:lpstr>Trap过程</vt:lpstr>
      <vt:lpstr>Trap过程</vt:lpstr>
      <vt:lpstr>Trap过程</vt:lpstr>
      <vt:lpstr>Trap过程</vt:lpstr>
      <vt:lpstr>Trap过程</vt:lpstr>
      <vt:lpstr>Trap过程</vt:lpstr>
      <vt:lpstr>Trap过程</vt:lpstr>
      <vt:lpstr>Trap过程</vt:lpstr>
      <vt:lpstr>Lab traps：Task2</vt:lpstr>
      <vt:lpstr>Step 1: 实现sigalarm(interval, handler)</vt:lpstr>
      <vt:lpstr>Step 2: 实现sigreturn()</vt:lpstr>
      <vt:lpstr>Optional Challenge</vt:lpstr>
      <vt:lpstr>Lab</vt:lpstr>
      <vt:lpstr>评分</vt:lpstr>
      <vt:lpstr>Q&amp;A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Jiagan Cheng</dc:creator>
  <cp:lastModifiedBy>xzhang</cp:lastModifiedBy>
  <cp:revision>159</cp:revision>
  <dcterms:created xsi:type="dcterms:W3CDTF">2023-02-16T06:23:00Z</dcterms:created>
  <dcterms:modified xsi:type="dcterms:W3CDTF">2026-03-27T11:31:49Z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FF2BEE5EA317424D8406A40B46B8B012_12</vt:lpwstr>
  </property>
  <property fmtid="{D5CDD505-2E9C-101B-9397-08002B2CF9AE}" pid="3" name="KSOProductBuildVer">
    <vt:lpwstr>2052-12.1.0.20305</vt:lpwstr>
  </property>
</Properties>
</file>